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B36C"/>
              </a:solidFill>
              <a:effectLst/>
            </c:spPr>
          </c:dPt>
          <c:dPt>
            <c:idx val="1"/>
            <c:bubble3D val="0"/>
            <c:spPr>
              <a:solidFill>
                <a:srgbClr val="2D85E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0.4515</c:v>
                </c:pt>
                <c:pt idx="1">
                  <c:v>0.5485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$</c:v>
                </c:pt>
              </c:strCache>
            </c:strRef>
          </c:tx>
          <c:spPr>
            <a:solidFill>
              <a:srgbClr val="FFA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$
53.75% (269 K)</c:v>
                  </c:pt>
                  <c:pt idx="1">
                    <c:v>Middle $
39.33% (197 K)</c:v>
                  </c:pt>
                  <c:pt idx="2">
                    <c:v>High $
6.92% (33 010)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53.75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 $</c:v>
                </c:pt>
              </c:strCache>
            </c:strRef>
          </c:tx>
          <c:spPr>
            <a:solidFill>
              <a:srgbClr val="0FB3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$
53.75% (269 K)</c:v>
                  </c:pt>
                  <c:pt idx="1">
                    <c:v>Middle $
39.33% (197 K)</c:v>
                  </c:pt>
                  <c:pt idx="2">
                    <c:v>High $
6.92% (33 010)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39.33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$</c:v>
                </c:pt>
              </c:strCache>
            </c:strRef>
          </c:tx>
          <c:spPr>
            <a:solidFill>
              <a:srgbClr val="2D85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$
53.75% (269 K)</c:v>
                  </c:pt>
                  <c:pt idx="1">
                    <c:v>Middle $
39.33% (197 K)</c:v>
                  </c:pt>
                  <c:pt idx="2">
                    <c:v>High $
6.92% (33 010)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</c:v>
                </c:pt>
              </c:strCache>
            </c:strRef>
          </c:tx>
          <c:spPr>
            <a:solidFill>
              <a:srgbClr val="2D85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YouTube
58.34%
(292 K)</c:v>
                  </c:pt>
                  <c:pt idx="1">
                    <c:v>Facebook
56.96%
(285 K)</c:v>
                  </c:pt>
                  <c:pt idx="2">
                    <c:v>Instagram
32.91%
(165 K)</c:v>
                  </c:pt>
                  <c:pt idx="3">
                    <c:v>TikTok
30.92%
(155 K)</c:v>
                  </c:pt>
                  <c:pt idx="4">
                    <c:v>LinkedIn
27.36%
(137 K)</c:v>
                  </c:pt>
                  <c:pt idx="5">
                    <c:v>Reddit
23.56%
(118 K)</c:v>
                  </c:pt>
                  <c:pt idx="6">
                    <c:v>Pinterest
11.75%
(58 813)</c:v>
                  </c:pt>
                  <c:pt idx="7">
                    <c:v>Telegram
11%
(55 082)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0.5834</c:v>
                </c:pt>
                <c:pt idx="1">
                  <c:v>0.5696</c:v>
                </c:pt>
                <c:pt idx="2">
                  <c:v>0.32909999999999995</c:v>
                </c:pt>
                <c:pt idx="3">
                  <c:v>0.30920000000000003</c:v>
                </c:pt>
                <c:pt idx="4">
                  <c:v>0.2736</c:v>
                </c:pt>
                <c:pt idx="5">
                  <c:v>0.23559999999999998</c:v>
                </c:pt>
                <c:pt idx="6">
                  <c:v>0.1175</c:v>
                </c:pt>
                <c:pt idx="7">
                  <c:v>0.11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123444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16736" y="4096512"/>
            <a:ext cx="274320" cy="27432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hasCustomPrompt="1"/>
          </p:nvPr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30000" r="-30000" t="0" b="0"/>
          <a:stretch/>
        </p:blipFill>
        <p:spPr>
          <a:xfrm>
            <a:off x="1828800" y="0"/>
            <a:ext cx="12192000" cy="68580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7280" y="5760720"/>
            <a:ext cx="2304288" cy="6339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Of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is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2800" y="0"/>
            <a:ext cx="6940800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87200" y="6033600"/>
            <a:ext cx="1360800" cy="37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Anicet Ekane - Demographics Report</a:t>
            </a:r>
            <a:endParaRPr lang="en-US" sz="4800" dirty="0"/>
          </a:p>
        </p:txBody>
      </p:sp>
      <p:sp>
        <p:nvSpPr>
          <p:cNvPr id="3" name="Text 0"/>
          <p:cNvSpPr/>
          <p:nvPr/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latin typeface="Roboto" pitchFamily="34" charset="0"/>
                <a:ea typeface="Roboto" pitchFamily="34" charset="-122"/>
                <a:cs typeface="Roboto" pitchFamily="34" charset="-120"/>
              </a:rPr>
              <a:t>2025-01-01 - 2025-12-31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-722376" y="-1837944"/>
            <a:ext cx="3904488" cy="3904488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1078992" cy="1078992"/>
          </a:xfrm>
          <a:prstGeom prst="ellipse">
            <a:avLst/>
          </a:prstGeom>
          <a:solidFill>
            <a:srgbClr val="636363"/>
          </a:solidFill>
          <a:ln w="12700">
            <a:solidFill>
              <a:srgbClr val="6363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5486400"/>
            <a:ext cx="548640" cy="548640"/>
          </a:xfrm>
          <a:prstGeom prst="ellipse">
            <a:avLst/>
          </a:prstGeom>
          <a:solidFill>
            <a:srgbClr val="057F4A"/>
          </a:solidFill>
          <a:ln w="127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 rot="16200000">
            <a:off x="698400" y="6300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800" y="-25236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800" y="8683200"/>
            <a:ext cx="597600" cy="597600"/>
          </a:xfrm>
          <a:prstGeom prst="ellipse">
            <a:avLst/>
          </a:prstGeom>
          <a:solidFill>
            <a:srgbClr val="C2C6CF"/>
          </a:solidFill>
          <a:ln/>
        </p:spPr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986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000" dirty="0"/>
          </a:p>
        </p:txBody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15840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Gender Distribution</a:t>
            </a:r>
            <a:endParaRPr lang="en-US" sz="2000" dirty="0"/>
          </a:p>
        </p:txBody>
      </p:sp>
      <p:sp>
        <p:nvSpPr>
          <p:cNvPr id="8" name="Text 6">
            <a:hlinkClick r:id="rId3" tooltip="" action="ppaction://hlinksldjump"/>
          </p:cNvPr>
          <p:cNvSpPr/>
          <p:nvPr/>
        </p:nvSpPr>
        <p:spPr>
          <a:xfrm>
            <a:off x="986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000" dirty="0"/>
          </a:p>
        </p:txBody>
      </p:sp>
      <p:sp>
        <p:nvSpPr>
          <p:cNvPr id="9" name="Text 7">
            <a:hlinkClick r:id="rId4" tooltip="" action="ppaction://hlinksldjump"/>
          </p:cNvPr>
          <p:cNvSpPr/>
          <p:nvPr/>
        </p:nvSpPr>
        <p:spPr>
          <a:xfrm>
            <a:off x="15840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 Distribution</a:t>
            </a:r>
            <a:endParaRPr lang="en-US" sz="2000" dirty="0"/>
          </a:p>
        </p:txBody>
      </p:sp>
      <p:sp>
        <p:nvSpPr>
          <p:cNvPr id="10" name="Text 8">
            <a:hlinkClick r:id="rId5" tooltip="" action="ppaction://hlinksldjump"/>
          </p:cNvPr>
          <p:cNvSpPr/>
          <p:nvPr/>
        </p:nvSpPr>
        <p:spPr>
          <a:xfrm>
            <a:off x="986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000" dirty="0"/>
          </a:p>
        </p:txBody>
      </p:sp>
      <p:sp>
        <p:nvSpPr>
          <p:cNvPr id="11" name="Text 9">
            <a:hlinkClick r:id="rId6" tooltip="" action="ppaction://hlinksldjump"/>
          </p:cNvPr>
          <p:cNvSpPr/>
          <p:nvPr/>
        </p:nvSpPr>
        <p:spPr>
          <a:xfrm>
            <a:off x="15840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Distribution by countries</a:t>
            </a:r>
            <a:endParaRPr lang="en-US" sz="2000" dirty="0"/>
          </a:p>
        </p:txBody>
      </p:sp>
      <p:sp>
        <p:nvSpPr>
          <p:cNvPr id="12" name="Text 10">
            <a:hlinkClick r:id="rId7" tooltip="" action="ppaction://hlinksldjump"/>
          </p:cNvPr>
          <p:cNvSpPr/>
          <p:nvPr/>
        </p:nvSpPr>
        <p:spPr>
          <a:xfrm>
            <a:off x="986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2000" dirty="0"/>
          </a:p>
        </p:txBody>
      </p:sp>
      <p:sp>
        <p:nvSpPr>
          <p:cNvPr id="13" name="Text 11">
            <a:hlinkClick r:id="rId8" tooltip="" action="ppaction://hlinksldjump"/>
          </p:cNvPr>
          <p:cNvSpPr/>
          <p:nvPr/>
        </p:nvSpPr>
        <p:spPr>
          <a:xfrm>
            <a:off x="15840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Distribution by countries - map</a:t>
            </a:r>
            <a:endParaRPr lang="en-US" sz="2000" dirty="0"/>
          </a:p>
        </p:txBody>
      </p:sp>
      <p:sp>
        <p:nvSpPr>
          <p:cNvPr id="14" name="Text 12">
            <a:hlinkClick r:id="rId9" tooltip="" action="ppaction://hlinksldjump"/>
          </p:cNvPr>
          <p:cNvSpPr/>
          <p:nvPr/>
        </p:nvSpPr>
        <p:spPr>
          <a:xfrm>
            <a:off x="9864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2000" dirty="0"/>
          </a:p>
        </p:txBody>
      </p:sp>
      <p:sp>
        <p:nvSpPr>
          <p:cNvPr id="15" name="Text 13">
            <a:hlinkClick r:id="rId10" tooltip="" action="ppaction://hlinksldjump"/>
          </p:cNvPr>
          <p:cNvSpPr/>
          <p:nvPr/>
        </p:nvSpPr>
        <p:spPr>
          <a:xfrm>
            <a:off x="15840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Occupation breakdown</a:t>
            </a:r>
            <a:endParaRPr lang="en-US" sz="2000" dirty="0"/>
          </a:p>
        </p:txBody>
      </p:sp>
      <p:sp>
        <p:nvSpPr>
          <p:cNvPr id="16" name="Text 14">
            <a:hlinkClick r:id="rId11" tooltip="" action="ppaction://hlinksldjump"/>
          </p:cNvPr>
          <p:cNvSpPr/>
          <p:nvPr/>
        </p:nvSpPr>
        <p:spPr>
          <a:xfrm>
            <a:off x="60048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2000" dirty="0"/>
          </a:p>
        </p:txBody>
      </p:sp>
      <p:sp>
        <p:nvSpPr>
          <p:cNvPr id="17" name="Text 15">
            <a:hlinkClick r:id="rId12" tooltip="" action="ppaction://hlinksldjump"/>
          </p:cNvPr>
          <p:cNvSpPr/>
          <p:nvPr/>
        </p:nvSpPr>
        <p:spPr>
          <a:xfrm>
            <a:off x="6602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Education level</a:t>
            </a:r>
            <a:endParaRPr lang="en-US" sz="2000" dirty="0"/>
          </a:p>
        </p:txBody>
      </p:sp>
      <p:sp>
        <p:nvSpPr>
          <p:cNvPr id="18" name="Text 16">
            <a:hlinkClick r:id="rId13" tooltip="" action="ppaction://hlinksldjump"/>
          </p:cNvPr>
          <p:cNvSpPr/>
          <p:nvPr/>
        </p:nvSpPr>
        <p:spPr>
          <a:xfrm>
            <a:off x="60048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</a:t>
            </a:r>
            <a:endParaRPr lang="en-US" sz="2000" dirty="0"/>
          </a:p>
        </p:txBody>
      </p:sp>
      <p:sp>
        <p:nvSpPr>
          <p:cNvPr id="19" name="Text 17">
            <a:hlinkClick r:id="rId14" tooltip="" action="ppaction://hlinksldjump"/>
          </p:cNvPr>
          <p:cNvSpPr/>
          <p:nvPr/>
        </p:nvSpPr>
        <p:spPr>
          <a:xfrm>
            <a:off x="6602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Income level</a:t>
            </a:r>
            <a:endParaRPr lang="en-US" sz="2000" dirty="0"/>
          </a:p>
        </p:txBody>
      </p:sp>
      <p:sp>
        <p:nvSpPr>
          <p:cNvPr id="20" name="Text 18">
            <a:hlinkClick r:id="rId15" tooltip="" action="ppaction://hlinksldjump"/>
          </p:cNvPr>
          <p:cNvSpPr/>
          <p:nvPr/>
        </p:nvSpPr>
        <p:spPr>
          <a:xfrm>
            <a:off x="60048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2000" dirty="0"/>
          </a:p>
        </p:txBody>
      </p:sp>
      <p:sp>
        <p:nvSpPr>
          <p:cNvPr id="21" name="Text 19">
            <a:hlinkClick r:id="rId16" tooltip="" action="ppaction://hlinksldjump"/>
          </p:cNvPr>
          <p:cNvSpPr/>
          <p:nvPr/>
        </p:nvSpPr>
        <p:spPr>
          <a:xfrm>
            <a:off x="6602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Interests</a:t>
            </a:r>
            <a:endParaRPr lang="en-US" sz="2000" dirty="0"/>
          </a:p>
        </p:txBody>
      </p:sp>
      <p:sp>
        <p:nvSpPr>
          <p:cNvPr id="22" name="Text 20">
            <a:hlinkClick r:id="rId17" tooltip="" action="ppaction://hlinksldjump"/>
          </p:cNvPr>
          <p:cNvSpPr/>
          <p:nvPr/>
        </p:nvSpPr>
        <p:spPr>
          <a:xfrm>
            <a:off x="60048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2000" dirty="0"/>
          </a:p>
        </p:txBody>
      </p:sp>
      <p:sp>
        <p:nvSpPr>
          <p:cNvPr id="23" name="Text 21">
            <a:hlinkClick r:id="rId18" tooltip="" action="ppaction://hlinksldjump"/>
          </p:cNvPr>
          <p:cNvSpPr/>
          <p:nvPr/>
        </p:nvSpPr>
        <p:spPr>
          <a:xfrm>
            <a:off x="6602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 Media Presence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Gender Distribution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888000" y="1620000"/>
          <a:ext cx="4320000" cy="432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888000" y="3348000"/>
            <a:ext cx="432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363"/>
                </a:solidFill>
              </a:rPr>
              <a:t>497K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888000" y="3852000"/>
            <a:ext cx="432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77889"/>
                </a:solidFill>
              </a:rPr>
              <a:t>Total Reach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48000" y="6174000"/>
            <a:ext cx="144000" cy="144000"/>
          </a:xfrm>
          <a:prstGeom prst="ellipse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0000" y="61200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Female: 45.15%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28000" y="6174000"/>
            <a:ext cx="144000" cy="144000"/>
          </a:xfrm>
          <a:prstGeom prst="ellipse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0000" y="61200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Male: 54.85%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Age Distribution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340000" y="1512000"/>
            <a:ext cx="0" cy="44280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000" y="1548000"/>
            <a:ext cx="0" cy="4392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160000" y="597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20000" y="1548000"/>
            <a:ext cx="0" cy="4392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840000" y="597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00000" y="1548000"/>
            <a:ext cx="0" cy="4392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520000" y="597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80000" y="1548000"/>
            <a:ext cx="0" cy="4392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200000" y="597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0000" y="171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18-24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40000" y="1620000"/>
            <a:ext cx="251664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4640" y="162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7.5% (34 246)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40000" y="1836000"/>
            <a:ext cx="308784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5840" y="183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9.2% (46 016)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0000" y="243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25-34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40000" y="2340000"/>
            <a:ext cx="356832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320" y="234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10.6% (53 172)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40000" y="2556000"/>
            <a:ext cx="389760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600" y="255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11.6% (58 054)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0000" y="315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35-44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40000" y="3060000"/>
            <a:ext cx="250992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7920" y="306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7.5% (37 394)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40000" y="3276000"/>
            <a:ext cx="295680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4800" y="327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8.8% (44 045)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0000" y="387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45-54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40000" y="3780000"/>
            <a:ext cx="258720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5200" y="378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7.7% (38 535)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40000" y="3996000"/>
            <a:ext cx="344400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2000" y="399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10.3% (51 293)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00000" y="459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55-64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40000" y="4500000"/>
            <a:ext cx="204624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4240" y="450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6.1% (30 473)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40000" y="4716000"/>
            <a:ext cx="282240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0400" y="471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8.4% (42 071)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00000" y="531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65+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40000" y="5220000"/>
            <a:ext cx="194208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90080" y="522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5.8% (28 956)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40000" y="5436000"/>
            <a:ext cx="222096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8960" y="543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6.6% (33 066)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40000" y="6156000"/>
            <a:ext cx="3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</a:rPr>
              <a:t>Percentage of Reach 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640000" y="3564000"/>
            <a:ext cx="144000" cy="144000"/>
          </a:xfrm>
          <a:prstGeom prst="ellipse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56000" y="3492000"/>
            <a:ext cx="10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Female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40000" y="3852000"/>
            <a:ext cx="144000" cy="144000"/>
          </a:xfrm>
          <a:prstGeom prst="ellipse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56000" y="3780000"/>
            <a:ext cx="10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Male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Distribution by countries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40000" y="1620000"/>
          <a:ext cx="9360000" cy="4320000"/>
        </p:xfrm>
        <a:graphic>
          <a:graphicData uri="http://schemas.openxmlformats.org/drawingml/2006/table">
            <a:tbl>
              <a:tblPr/>
              <a:tblGrid>
                <a:gridCol w="4680000"/>
                <a:gridCol w="4680000"/>
              </a:tblGrid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Reach % (Value)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🇨🇲  Cameroon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27.08% (338 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🇺🇸  United States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10.55% (131 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🇫🇷  France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8.62% (108 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🇮🇹  Italy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7.25% (90 520)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🇨🇦  Canada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6.21% (77 457)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🇩🇪  Germany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5.91% (73 798)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🇹🇭  Thailand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5.7% (71 181)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🇨🇮  Ivory Coast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5.1% (63 685)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🇬🇧  United Kingdom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3.95% (49 275)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🇹🇩  Chad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3.58% (44 701)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Distribution by countries - map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9100" y="1440000"/>
            <a:ext cx="6615000" cy="5040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Occupation breakdown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060000" y="1512000"/>
            <a:ext cx="0" cy="46440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0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880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68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888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76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96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4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04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30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92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912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40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00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920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50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0000" y="1620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Full-time 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0000" y="1620000"/>
            <a:ext cx="5040000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8000" y="1620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57.52% (286 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0000" y="2124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Part-time 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0000" y="2124000"/>
            <a:ext cx="1530144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8144" y="2124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15.18% (75 993)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0000" y="2628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Unemployed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60000" y="2628000"/>
            <a:ext cx="1276128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4128" y="2628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12.66% (63 391)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0000" y="3132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Studies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60000" y="3132000"/>
            <a:ext cx="568512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6512" y="3132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5.64% (28 219)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0000" y="3636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Homemaker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60000" y="3636000"/>
            <a:ext cx="307440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5440" y="3636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3.05% (15 246)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0000" y="4140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Retired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60000" y="4140000"/>
            <a:ext cx="235872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3872" y="4140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2.34% (11 700)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0000" y="4644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Own business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60000" y="4644000"/>
            <a:ext cx="219744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7744" y="4644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2.18% (10 904)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0000" y="5148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Leave of absence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60000" y="5148000"/>
            <a:ext cx="126000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4000" y="5148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1.25% (6240)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000" y="5652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Parental leave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60000" y="5652000"/>
            <a:ext cx="18144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86144" y="5652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0.18% (898)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60000" y="6372000"/>
            <a:ext cx="3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</a:rPr>
              <a:t>Percentage of Reach 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Education level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060000" y="1620000"/>
            <a:ext cx="0" cy="37800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88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1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23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58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40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1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3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60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6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28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80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0000" y="1800000"/>
            <a:ext cx="2268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University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60000" y="1800000"/>
            <a:ext cx="3683475" cy="288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1475" y="1800000"/>
            <a:ext cx="144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54.57% (272 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0000" y="2700000"/>
            <a:ext cx="2268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School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0000" y="2700000"/>
            <a:ext cx="1987200" cy="288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5200" y="2700000"/>
            <a:ext cx="144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29.44% (147 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0000" y="3600000"/>
            <a:ext cx="2268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Postgraduate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60000" y="3600000"/>
            <a:ext cx="927450" cy="288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5450" y="3600000"/>
            <a:ext cx="144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13.74% (68 797)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0000" y="4500000"/>
            <a:ext cx="2268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None completed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60000" y="4500000"/>
            <a:ext cx="151875" cy="288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875" y="4500000"/>
            <a:ext cx="144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2.25% (11 241)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60000" y="5616000"/>
            <a:ext cx="3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</a:rPr>
              <a:t>Percentage of Reach 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Income level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677600" y="1789200"/>
          <a:ext cx="9543600" cy="439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Interests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76600" y="1800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🌐  Online Services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56600" y="1800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84.09% (421 K)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76600" y="2052000"/>
            <a:ext cx="864000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6600" y="2448000"/>
            <a:ext cx="8640000" cy="0"/>
          </a:xfrm>
          <a:prstGeom prst="line">
            <a:avLst/>
          </a:prstGeom>
          <a:noFill/>
          <a:ln w="12700">
            <a:solidFill>
              <a:srgbClr val="E4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6600" y="2592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📺  Mass Media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56600" y="2592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81.92% (410 K)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76600" y="2844000"/>
            <a:ext cx="8417039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6600" y="3240000"/>
            <a:ext cx="8640000" cy="0"/>
          </a:xfrm>
          <a:prstGeom prst="line">
            <a:avLst/>
          </a:prstGeom>
          <a:noFill/>
          <a:ln w="12700">
            <a:solidFill>
              <a:srgbClr val="E4E8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6600" y="3384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💻  Information 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6600" y="3384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65.86% (330 K)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76600" y="3636000"/>
            <a:ext cx="6766921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6600" y="4032000"/>
            <a:ext cx="8640000" cy="0"/>
          </a:xfrm>
          <a:prstGeom prst="line">
            <a:avLst/>
          </a:prstGeom>
          <a:noFill/>
          <a:ln w="12700">
            <a:solidFill>
              <a:srgbClr val="E4E8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6600" y="4176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🛒  Retail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56600" y="4176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62.58% (313 K)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76600" y="4428000"/>
            <a:ext cx="6429911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6600" y="4824000"/>
            <a:ext cx="8640000" cy="0"/>
          </a:xfrm>
          <a:prstGeom prst="line">
            <a:avLst/>
          </a:prstGeom>
          <a:noFill/>
          <a:ln w="12700">
            <a:solidFill>
              <a:srgbClr val="E4E8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6600" y="4968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📰  Newspapers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56600" y="4968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60.66% (304 K)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76600" y="5220000"/>
            <a:ext cx="6232636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Social Media Presence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677600" y="1789200"/>
          <a:ext cx="9543600" cy="439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350800" y="1069200"/>
            <a:ext cx="1710000" cy="1710000"/>
          </a:xfrm>
          <a:prstGeom prst="ellipse">
            <a:avLst/>
          </a:prstGeom>
          <a:solidFill>
            <a:srgbClr val="E4E8EB"/>
          </a:solidFill>
          <a:ln/>
        </p:spPr>
      </p:sp>
      <p:sp>
        <p:nvSpPr>
          <p:cNvPr id="4" name="Shape 2"/>
          <p:cNvSpPr/>
          <p:nvPr/>
        </p:nvSpPr>
        <p:spPr>
          <a:xfrm>
            <a:off x="9936000" y="799200"/>
            <a:ext cx="993600" cy="993600"/>
          </a:xfrm>
          <a:prstGeom prst="ellipse">
            <a:avLst/>
          </a:prstGeom>
          <a:solidFill>
            <a:srgbClr val="636363"/>
          </a:solidFill>
          <a:ln/>
        </p:spPr>
      </p:sp>
      <p:sp>
        <p:nvSpPr>
          <p:cNvPr id="5" name="Shape 3"/>
          <p:cNvSpPr/>
          <p:nvPr/>
        </p:nvSpPr>
        <p:spPr>
          <a:xfrm>
            <a:off x="11134800" y="5536800"/>
            <a:ext cx="493200" cy="493200"/>
          </a:xfrm>
          <a:prstGeom prst="ellipse">
            <a:avLst/>
          </a:prstGeom>
          <a:solidFill>
            <a:srgbClr val="057F4A"/>
          </a:solidFill>
          <a:ln/>
        </p:spPr>
      </p:sp>
      <p:sp>
        <p:nvSpPr>
          <p:cNvPr id="6" name="Shape 4"/>
          <p:cNvSpPr/>
          <p:nvPr/>
        </p:nvSpPr>
        <p:spPr>
          <a:xfrm>
            <a:off x="-1468800" y="49464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2026-01-14T08:59:25Z</dcterms:created>
  <dcterms:modified xsi:type="dcterms:W3CDTF">2026-01-14T08:59:25Z</dcterms:modified>
</cp:coreProperties>
</file>