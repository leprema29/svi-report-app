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2D85E5"/>
            </a:solidFill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85E5"/>
              </a:solidFill>
              <a:ln w="9525" cap="flat">
                <a:solidFill>
                  <a:srgbClr val="2D85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2025-12-04</c:v>
                  </c:pt>
                  <c:pt idx="1">
                    <c:v>2025-12-05</c:v>
                  </c:pt>
                  <c:pt idx="2">
                    <c:v>2025-12-06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9</c:v>
                </c:pt>
                <c:pt idx="2">
                  <c:v>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Reach</c:v>
                </c:pt>
              </c:strCache>
            </c:strRef>
          </c:tx>
          <c:spPr>
            <a:solidFill>
              <a:srgbClr val="2D85E5"/>
            </a:solidFill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85E5"/>
              </a:solidFill>
              <a:ln w="9525" cap="flat">
                <a:solidFill>
                  <a:srgbClr val="2D85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2025-12-04</c:v>
                  </c:pt>
                  <c:pt idx="1">
                    <c:v>2025-12-05</c:v>
                  </c:pt>
                  <c:pt idx="2">
                    <c:v>2025-12-06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222877</c:v>
                </c:pt>
                <c:pt idx="1">
                  <c:v>175587</c:v>
                </c:pt>
                <c:pt idx="2">
                  <c:v>61700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057F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X (Twitter)</c:v>
                  </c:pt>
                  <c:pt idx="1">
                    <c:v>Facebook</c:v>
                  </c:pt>
                  <c:pt idx="2">
                    <c:v>Instagram</c:v>
                  </c:pt>
                  <c:pt idx="3">
                    <c:v>Blogs</c:v>
                  </c:pt>
                  <c:pt idx="4">
                    <c:v>Videos</c:v>
                  </c:pt>
                  <c:pt idx="5">
                    <c:v>TikTok</c:v>
                  </c:pt>
                  <c:pt idx="6">
                    <c:v>Podcasts</c:v>
                  </c:pt>
                  <c:pt idx="7">
                    <c:v>Other Socials</c:v>
                  </c:pt>
                  <c:pt idx="8">
                    <c:v>News</c:v>
                  </c:pt>
                  <c:pt idx="9">
                    <c:v>Web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6</c:v>
                </c:pt>
                <c:pt idx="5">
                  <c:v>4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57F4A"/>
            </a:solidFill>
            <a:ln w="25400" cap="flat">
              <a:solidFill>
                <a:srgbClr val="057F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57F4A"/>
              </a:solidFill>
              <a:ln w="9525" cap="flat">
                <a:solidFill>
                  <a:srgbClr val="057F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2025-12-04</c:v>
                  </c:pt>
                  <c:pt idx="1">
                    <c:v>2025-12-05</c:v>
                  </c:pt>
                  <c:pt idx="2">
                    <c:v>2025-12-06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BB3540"/>
            </a:solidFill>
            <a:ln w="25400" cap="flat">
              <a:solidFill>
                <a:srgbClr val="BB35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BB3540"/>
              </a:solidFill>
              <a:ln w="9525" cap="flat">
                <a:solidFill>
                  <a:srgbClr val="BB35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2025-12-04</c:v>
                  </c:pt>
                  <c:pt idx="1">
                    <c:v>2025-12-05</c:v>
                  </c:pt>
                  <c:pt idx="2">
                    <c:v>2025-12-06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4</c:v>
                </c:pt>
                <c:pt idx="2">
                  <c:v>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57F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TikTok</c:v>
                  </c:pt>
                  <c:pt idx="1">
                    <c:v>Videos</c:v>
                  </c:pt>
                  <c:pt idx="2">
                    <c:v>Facebook</c:v>
                  </c:pt>
                  <c:pt idx="3">
                    <c:v>X (Twitter)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BB35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TikTok</c:v>
                  </c:pt>
                  <c:pt idx="1">
                    <c:v>Videos</c:v>
                  </c:pt>
                  <c:pt idx="2">
                    <c:v>Facebook</c:v>
                  </c:pt>
                  <c:pt idx="3">
                    <c:v>X (Twitter)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F4F4F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TikTok</c:v>
                  </c:pt>
                  <c:pt idx="1">
                    <c:v>Videos</c:v>
                  </c:pt>
                  <c:pt idx="2">
                    <c:v>Facebook</c:v>
                  </c:pt>
                  <c:pt idx="3">
                    <c:v>X (Twitter)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5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71D6"/>
              </a:solidFill>
              <a:effectLst/>
            </c:spPr>
          </c:dPt>
          <c:dPt>
            <c:idx val="1"/>
            <c:bubble3D val="0"/>
            <c:spPr>
              <a:solidFill>
                <a:srgbClr val="F7F7F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Score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</c:v>
                </c:pt>
                <c:pt idx="1">
                  <c:v>99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Your Presence Score</c:v>
                </c:pt>
              </c:strCache>
            </c:strRef>
          </c:tx>
          <c:spPr>
            <a:solidFill>
              <a:srgbClr val="2D85E5"/>
            </a:solidFill>
            <a:ln w="25400" cap="flat">
              <a:solidFill>
                <a:srgbClr val="2D85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D85E5"/>
              </a:solidFill>
              <a:ln w="9525" cap="flat">
                <a:solidFill>
                  <a:srgbClr val="2D85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</c:f>
              <c:multiLvlStrCache>
                <c:ptCount val="1"/>
                <c:lvl>
                  <c:pt idx="0">
                    <c:v>2025-12-04 - 2025-12-06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8000000"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4f6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hasCustomPrompt="1"/>
          </p:nvPr>
        </p:nvSpPr>
        <p:spPr>
          <a:xfrm>
            <a:off x="1234440" y="329184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16736" y="4096512"/>
            <a:ext cx="274320" cy="274320"/>
          </a:xfrm>
          <a:prstGeom prst="rect">
            <a:avLst/>
          </a:prstGeom>
        </p:spPr>
      </p:pic>
      <p:sp>
        <p:nvSpPr>
          <p:cNvPr id="5" name="Text 0"/>
          <p:cNvSpPr/>
          <p:nvPr>
            <p:ph idx="103" hasCustomPrompt="1"/>
          </p:nvPr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-30000" r="-30000" t="0" b="0"/>
          <a:stretch/>
        </p:blipFill>
        <p:spPr>
          <a:xfrm>
            <a:off x="1828800" y="0"/>
            <a:ext cx="12192000" cy="68580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97280" y="5760720"/>
            <a:ext cx="2304288" cy="63398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OfConten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0800" y="6228000"/>
            <a:ext cx="1360800" cy="37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is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hasCustomPrompt="1"/>
          </p:nvPr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5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52800" y="0"/>
            <a:ext cx="6940800" cy="6858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87200" y="6033600"/>
            <a:ext cx="1360800" cy="37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6.xml"/><Relationship Id="rId9" Type="http://schemas.openxmlformats.org/officeDocument/2006/relationships/slide" Target="slide7.xml"/><Relationship Id="rId10" Type="http://schemas.openxmlformats.org/officeDocument/2006/relationships/slide" Target="slide7.xml"/><Relationship Id="rId11" Type="http://schemas.openxmlformats.org/officeDocument/2006/relationships/slide" Target="slide8.xml"/><Relationship Id="rId12" Type="http://schemas.openxmlformats.org/officeDocument/2006/relationships/slide" Target="slide8.xml"/><Relationship Id="rId13" Type="http://schemas.openxmlformats.org/officeDocument/2006/relationships/slide" Target="slide9.xml"/><Relationship Id="rId14" Type="http://schemas.openxmlformats.org/officeDocument/2006/relationships/slide" Target="slide9.xml"/><Relationship Id="rId15" Type="http://schemas.openxmlformats.org/officeDocument/2006/relationships/slide" Target="slide10.xml"/><Relationship Id="rId16" Type="http://schemas.openxmlformats.org/officeDocument/2006/relationships/slide" Target="slide10.xml"/><Relationship Id="rId17" Type="http://schemas.openxmlformats.org/officeDocument/2006/relationships/slide" Target="slide11.xml"/><Relationship Id="rId18" Type="http://schemas.openxmlformats.org/officeDocument/2006/relationships/slide" Target="slide11.xml"/><Relationship Id="rId19" Type="http://schemas.openxmlformats.org/officeDocument/2006/relationships/slide" Target="slide12.xml"/><Relationship Id="rId20" Type="http://schemas.openxmlformats.org/officeDocument/2006/relationships/slide" Target="slide12.xml"/><Relationship Id="rId21" Type="http://schemas.openxmlformats.org/officeDocument/2006/relationships/slide" Target="slide13.xml"/><Relationship Id="rId22" Type="http://schemas.openxmlformats.org/officeDocument/2006/relationships/slide" Target="slide13.xml"/><Relationship Id="rId23" Type="http://schemas.openxmlformats.org/officeDocument/2006/relationships/slide" Target="slide14.xml"/><Relationship Id="rId24" Type="http://schemas.openxmlformats.org/officeDocument/2006/relationships/slide" Target="slide14.xml"/><Relationship Id="rId25" Type="http://schemas.openxmlformats.org/officeDocument/2006/relationships/slide" Target="slide15.xml"/><Relationship Id="rId26" Type="http://schemas.openxmlformats.org/officeDocument/2006/relationships/slide" Target="slide15.xml"/><Relationship Id="rId27" Type="http://schemas.openxmlformats.org/officeDocument/2006/relationships/slide" Target="slide16.xml"/><Relationship Id="rId28" Type="http://schemas.openxmlformats.org/officeDocument/2006/relationships/slide" Target="slide16.xml"/><Relationship Id="rId29" Type="http://schemas.openxmlformats.org/officeDocument/2006/relationships/slideLayout" Target="../slideLayouts/slideLayout3.xml"/><Relationship Id="rId3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brand24.com/result/open/?id=92346492747&amp;h=b95f00d35033bca3d7c251044055a69840fbbf67&amp;source=panel" TargetMode="External"/><Relationship Id="rId4" Type="http://schemas.openxmlformats.org/officeDocument/2006/relationships/hyperlink" Target="https://app.brand24.com/result/open/?id=92346492751&amp;h=c62199beccdf1ffcb54b6225fb19e986810e09e8&amp;source=panel" TargetMode="External"/><Relationship Id="rId6" Type="http://schemas.openxmlformats.org/officeDocument/2006/relationships/hyperlink" Target="https://app.brand24.com/result/open/?id=92346492359&amp;h=02bd62fa6949b1397480e90c2b49827895a77f86&amp;source=panel" TargetMode="External"/><Relationship Id="rId8" Type="http://schemas.openxmlformats.org/officeDocument/2006/relationships/hyperlink" Target="https://app.brand24.com/result/open/?id=92346492744&amp;h=d7a3872697ff4187de4b8e94d681a82e8ee36479&amp;source=panel" TargetMode="Externa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5" Type="http://schemas.openxmlformats.org/officeDocument/2006/relationships/image" Target="../media/image-4-3.png"/><Relationship Id="rId7" Type="http://schemas.openxmlformats.org/officeDocument/2006/relationships/image" Target="../media/image-4-4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/result/open/?id=92346492747&amp;h=b95f00d35033bca3d7c251044055a69840fbbf67&amp;source=panel" TargetMode="External"/><Relationship Id="rId4" Type="http://schemas.openxmlformats.org/officeDocument/2006/relationships/hyperlink" Target="/result/open/?id=92346492744&amp;h=d7a3872697ff4187de4b8e94d681a82e8ee36479&amp;source=panel" TargetMode="External"/><Relationship Id="rId6" Type="http://schemas.openxmlformats.org/officeDocument/2006/relationships/hyperlink" Target="/result/open/?id=92346491869&amp;h=28b217161f975bd26721c7e4800378538cbbe45c&amp;source=panel" TargetMode="External"/><Relationship Id="rId8" Type="http://schemas.openxmlformats.org/officeDocument/2006/relationships/hyperlink" Target="/result/open/?id=92346492359&amp;h=02bd62fa6949b1397480e90c2b49827895a77f86&amp;source=panel" TargetMode="External"/><Relationship Id="rId1" Type="http://schemas.openxmlformats.org/officeDocument/2006/relationships/image" Target="../media/image-5-1.png"/><Relationship Id="rId3" Type="http://schemas.openxmlformats.org/officeDocument/2006/relationships/image" Target="../media/image-5-2.png"/><Relationship Id="rId5" Type="http://schemas.openxmlformats.org/officeDocument/2006/relationships/image" Target="../media/image-5-3.png"/><Relationship Id="rId7" Type="http://schemas.openxmlformats.org/officeDocument/2006/relationships/image" Target="../media/image-5-4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x.com/esbi_media/status/1997373154478465503/video/1" TargetMode="External"/><Relationship Id="rId2" Type="http://schemas.openxmlformats.org/officeDocument/2006/relationships/hyperlink" Target="https://x.com/westcameroons/status/1997376537792852372/video/1" TargetMode="External"/><Relationship Id="rId3" Type="http://schemas.openxmlformats.org/officeDocument/2006/relationships/hyperlink" Target="https://x.com/esbi_media/status/1997279862847844787/photo/1" TargetMode="External"/><Relationship Id="rId4" Type="http://schemas.openxmlformats.org/officeDocument/2006/relationships/hyperlink" Target="https://x.com/esbi_media/status/1997019492044382509/photo/1" TargetMode="External"/><Relationship Id="rId5" Type="http://schemas.openxmlformats.org/officeDocument/2006/relationships/hyperlink" Target="https://panoramapapers.com/cameroun-blocage-de-laxe-ngaoundere-meiganga-les-camionneurs-exigent-la-presence-du-ministre-des-transports/" TargetMode="External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4440" y="2578608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NGAOUNDÉRÉ–MEIGANGA - Analysis</a:t>
            </a:r>
            <a:endParaRPr lang="en-US" sz="4800" dirty="0"/>
          </a:p>
        </p:txBody>
      </p:sp>
      <p:sp>
        <p:nvSpPr>
          <p:cNvPr id="3" name="Text 0"/>
          <p:cNvSpPr/>
          <p:nvPr/>
        </p:nvSpPr>
        <p:spPr>
          <a:xfrm>
            <a:off x="1618488" y="4123944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2025-12-04 - 2025-12-06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-722376" y="-1837944"/>
            <a:ext cx="3904488" cy="3904488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457200"/>
            <a:ext cx="1078992" cy="1078992"/>
          </a:xfrm>
          <a:prstGeom prst="ellipse">
            <a:avLst/>
          </a:prstGeom>
          <a:solidFill>
            <a:srgbClr val="636363"/>
          </a:solidFill>
          <a:ln w="12700">
            <a:solidFill>
              <a:srgbClr val="6363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0" y="5486400"/>
            <a:ext cx="548640" cy="548640"/>
          </a:xfrm>
          <a:prstGeom prst="ellipse">
            <a:avLst/>
          </a:prstGeom>
          <a:solidFill>
            <a:srgbClr val="057F4A"/>
          </a:solidFill>
          <a:ln w="127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6800" y="878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 rot="16200000">
            <a:off x="698400" y="6300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34800" y="-25236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800" y="8683200"/>
            <a:ext cx="597600" cy="597600"/>
          </a:xfrm>
          <a:prstGeom prst="ellipse">
            <a:avLst/>
          </a:prstGeom>
          <a:solidFill>
            <a:srgbClr val="C2C6CF"/>
          </a:solidFill>
          <a:ln/>
        </p:spPr>
      </p:sp>
      <p:sp>
        <p:nvSpPr>
          <p:cNvPr id="6" name="Text 4">
            <a:hlinkClick r:id="rId1" tooltip="" action="ppaction://hlinksldjump"/>
          </p:cNvPr>
          <p:cNvSpPr/>
          <p:nvPr/>
        </p:nvSpPr>
        <p:spPr>
          <a:xfrm>
            <a:off x="986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</a:t>
            </a:r>
            <a:endParaRPr lang="en-US" sz="2000" dirty="0"/>
          </a:p>
        </p:txBody>
      </p:sp>
      <p:sp>
        <p:nvSpPr>
          <p:cNvPr id="7" name="Text 5">
            <a:hlinkClick r:id="rId2" tooltip="" action="ppaction://hlinksldjump"/>
          </p:cNvPr>
          <p:cNvSpPr/>
          <p:nvPr/>
        </p:nvSpPr>
        <p:spPr>
          <a:xfrm>
            <a:off x="15840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Overview</a:t>
            </a:r>
            <a:endParaRPr lang="en-US" sz="2000" dirty="0"/>
          </a:p>
        </p:txBody>
      </p:sp>
      <p:sp>
        <p:nvSpPr>
          <p:cNvPr id="8" name="Text 6">
            <a:hlinkClick r:id="rId3" tooltip="" action="ppaction://hlinksldjump"/>
          </p:cNvPr>
          <p:cNvSpPr/>
          <p:nvPr/>
        </p:nvSpPr>
        <p:spPr>
          <a:xfrm>
            <a:off x="986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04</a:t>
            </a:r>
            <a:endParaRPr lang="en-US" sz="2000" dirty="0"/>
          </a:p>
        </p:txBody>
      </p:sp>
      <p:sp>
        <p:nvSpPr>
          <p:cNvPr id="9" name="Text 7">
            <a:hlinkClick r:id="rId4" tooltip="" action="ppaction://hlinksldjump"/>
          </p:cNvPr>
          <p:cNvSpPr/>
          <p:nvPr/>
        </p:nvSpPr>
        <p:spPr>
          <a:xfrm>
            <a:off x="15840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most popular mentions</a:t>
            </a:r>
            <a:endParaRPr lang="en-US" sz="2000" dirty="0"/>
          </a:p>
        </p:txBody>
      </p:sp>
      <p:sp>
        <p:nvSpPr>
          <p:cNvPr id="10" name="Text 8">
            <a:hlinkClick r:id="rId5" tooltip="" action="ppaction://hlinksldjump"/>
          </p:cNvPr>
          <p:cNvSpPr/>
          <p:nvPr/>
        </p:nvSpPr>
        <p:spPr>
          <a:xfrm>
            <a:off x="986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05</a:t>
            </a:r>
            <a:endParaRPr lang="en-US" sz="2000" dirty="0"/>
          </a:p>
        </p:txBody>
      </p:sp>
      <p:sp>
        <p:nvSpPr>
          <p:cNvPr id="11" name="Text 9">
            <a:hlinkClick r:id="rId6" tooltip="" action="ppaction://hlinksldjump"/>
          </p:cNvPr>
          <p:cNvSpPr/>
          <p:nvPr/>
        </p:nvSpPr>
        <p:spPr>
          <a:xfrm>
            <a:off x="15840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 from top public profil...</a:t>
            </a:r>
            <a:endParaRPr lang="en-US" sz="2000" dirty="0"/>
          </a:p>
        </p:txBody>
      </p:sp>
      <p:sp>
        <p:nvSpPr>
          <p:cNvPr id="12" name="Text 10">
            <a:hlinkClick r:id="rId7" tooltip="" action="ppaction://hlinksldjump"/>
          </p:cNvPr>
          <p:cNvSpPr/>
          <p:nvPr/>
        </p:nvSpPr>
        <p:spPr>
          <a:xfrm>
            <a:off x="986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06</a:t>
            </a:r>
            <a:endParaRPr lang="en-US" sz="2000" dirty="0"/>
          </a:p>
        </p:txBody>
      </p:sp>
      <p:sp>
        <p:nvSpPr>
          <p:cNvPr id="13" name="Text 11">
            <a:hlinkClick r:id="rId8" tooltip="" action="ppaction://hlinksldjump"/>
          </p:cNvPr>
          <p:cNvSpPr/>
          <p:nvPr/>
        </p:nvSpPr>
        <p:spPr>
          <a:xfrm>
            <a:off x="15840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</a:t>
            </a:r>
            <a:endParaRPr lang="en-US" sz="2000" dirty="0"/>
          </a:p>
        </p:txBody>
      </p:sp>
      <p:sp>
        <p:nvSpPr>
          <p:cNvPr id="14" name="Text 12">
            <a:hlinkClick r:id="rId9" tooltip="" action="ppaction://hlinksldjump"/>
          </p:cNvPr>
          <p:cNvSpPr/>
          <p:nvPr/>
        </p:nvSpPr>
        <p:spPr>
          <a:xfrm>
            <a:off x="986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07</a:t>
            </a:r>
            <a:endParaRPr lang="en-US" sz="2000" dirty="0"/>
          </a:p>
        </p:txBody>
      </p:sp>
      <p:sp>
        <p:nvSpPr>
          <p:cNvPr id="15" name="Text 13">
            <a:hlinkClick r:id="rId10" tooltip="" action="ppaction://hlinksldjump"/>
          </p:cNvPr>
          <p:cNvSpPr/>
          <p:nvPr/>
        </p:nvSpPr>
        <p:spPr>
          <a:xfrm>
            <a:off x="15840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Reach</a:t>
            </a:r>
            <a:endParaRPr lang="en-US" sz="2000" dirty="0"/>
          </a:p>
        </p:txBody>
      </p:sp>
      <p:sp>
        <p:nvSpPr>
          <p:cNvPr id="16" name="Text 14">
            <a:hlinkClick r:id="rId11" tooltip="" action="ppaction://hlinksldjump"/>
          </p:cNvPr>
          <p:cNvSpPr/>
          <p:nvPr/>
        </p:nvSpPr>
        <p:spPr>
          <a:xfrm>
            <a:off x="9864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08</a:t>
            </a:r>
            <a:endParaRPr lang="en-US" sz="2000" dirty="0"/>
          </a:p>
        </p:txBody>
      </p:sp>
      <p:sp>
        <p:nvSpPr>
          <p:cNvPr id="17" name="Text 15">
            <a:hlinkClick r:id="rId12" tooltip="" action="ppaction://hlinksldjump"/>
          </p:cNvPr>
          <p:cNvSpPr/>
          <p:nvPr/>
        </p:nvSpPr>
        <p:spPr>
          <a:xfrm>
            <a:off x="15840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Mentions by category</a:t>
            </a:r>
            <a:endParaRPr lang="en-US" sz="2000" dirty="0"/>
          </a:p>
        </p:txBody>
      </p:sp>
      <p:sp>
        <p:nvSpPr>
          <p:cNvPr id="18" name="Text 16">
            <a:hlinkClick r:id="rId13" tooltip="" action="ppaction://hlinksldjump"/>
          </p:cNvPr>
          <p:cNvSpPr/>
          <p:nvPr/>
        </p:nvSpPr>
        <p:spPr>
          <a:xfrm>
            <a:off x="9864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09</a:t>
            </a:r>
            <a:endParaRPr lang="en-US" sz="2000" dirty="0"/>
          </a:p>
        </p:txBody>
      </p:sp>
      <p:sp>
        <p:nvSpPr>
          <p:cNvPr id="19" name="Text 17">
            <a:hlinkClick r:id="rId14" tooltip="" action="ppaction://hlinksldjump"/>
          </p:cNvPr>
          <p:cNvSpPr/>
          <p:nvPr/>
        </p:nvSpPr>
        <p:spPr>
          <a:xfrm>
            <a:off x="15840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</a:t>
            </a:r>
            <a:endParaRPr lang="en-US" sz="2000" dirty="0"/>
          </a:p>
        </p:txBody>
      </p:sp>
      <p:sp>
        <p:nvSpPr>
          <p:cNvPr id="20" name="Text 18">
            <a:hlinkClick r:id="rId15" tooltip="" action="ppaction://hlinksldjump"/>
          </p:cNvPr>
          <p:cNvSpPr/>
          <p:nvPr/>
        </p:nvSpPr>
        <p:spPr>
          <a:xfrm>
            <a:off x="60048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</a:t>
            </a:r>
            <a:endParaRPr lang="en-US" sz="2000" dirty="0"/>
          </a:p>
        </p:txBody>
      </p:sp>
      <p:sp>
        <p:nvSpPr>
          <p:cNvPr id="21" name="Text 19">
            <a:hlinkClick r:id="rId16" tooltip="" action="ppaction://hlinksldjump"/>
          </p:cNvPr>
          <p:cNvSpPr/>
          <p:nvPr/>
        </p:nvSpPr>
        <p:spPr>
          <a:xfrm>
            <a:off x="6602400" y="168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Sentiment by categories</a:t>
            </a:r>
            <a:endParaRPr lang="en-US" sz="2000" dirty="0"/>
          </a:p>
        </p:txBody>
      </p:sp>
      <p:sp>
        <p:nvSpPr>
          <p:cNvPr id="22" name="Text 20">
            <a:hlinkClick r:id="rId17" tooltip="" action="ppaction://hlinksldjump"/>
          </p:cNvPr>
          <p:cNvSpPr/>
          <p:nvPr/>
        </p:nvSpPr>
        <p:spPr>
          <a:xfrm>
            <a:off x="60048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11</a:t>
            </a:r>
            <a:endParaRPr lang="en-US" sz="2000" dirty="0"/>
          </a:p>
        </p:txBody>
      </p:sp>
      <p:sp>
        <p:nvSpPr>
          <p:cNvPr id="23" name="Text 21">
            <a:hlinkClick r:id="rId18" tooltip="" action="ppaction://hlinksldjump"/>
          </p:cNvPr>
          <p:cNvSpPr/>
          <p:nvPr/>
        </p:nvSpPr>
        <p:spPr>
          <a:xfrm>
            <a:off x="6602400" y="2379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Influencers: most share of voic...</a:t>
            </a:r>
            <a:endParaRPr lang="en-US" sz="2000" dirty="0"/>
          </a:p>
        </p:txBody>
      </p:sp>
      <p:sp>
        <p:nvSpPr>
          <p:cNvPr id="24" name="Text 22">
            <a:hlinkClick r:id="rId19" tooltip="" action="ppaction://hlinksldjump"/>
          </p:cNvPr>
          <p:cNvSpPr/>
          <p:nvPr/>
        </p:nvSpPr>
        <p:spPr>
          <a:xfrm>
            <a:off x="60048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9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12</a:t>
            </a:r>
            <a:endParaRPr lang="en-US" sz="2000" dirty="0"/>
          </a:p>
        </p:txBody>
      </p:sp>
      <p:sp>
        <p:nvSpPr>
          <p:cNvPr id="25" name="Text 23">
            <a:hlinkClick r:id="rId20" tooltip="" action="ppaction://hlinksldjump"/>
          </p:cNvPr>
          <p:cNvSpPr/>
          <p:nvPr/>
        </p:nvSpPr>
        <p:spPr>
          <a:xfrm>
            <a:off x="6602400" y="307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Influencers: most followers</a:t>
            </a:r>
            <a:endParaRPr lang="en-US" sz="2000" dirty="0"/>
          </a:p>
        </p:txBody>
      </p:sp>
      <p:sp>
        <p:nvSpPr>
          <p:cNvPr id="26" name="Text 24">
            <a:hlinkClick r:id="rId21" tooltip="" action="ppaction://hlinksldjump"/>
          </p:cNvPr>
          <p:cNvSpPr/>
          <p:nvPr/>
        </p:nvSpPr>
        <p:spPr>
          <a:xfrm>
            <a:off x="60048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13</a:t>
            </a:r>
            <a:endParaRPr lang="en-US" sz="2000" dirty="0"/>
          </a:p>
        </p:txBody>
      </p:sp>
      <p:sp>
        <p:nvSpPr>
          <p:cNvPr id="27" name="Text 25">
            <a:hlinkClick r:id="rId22" tooltip="" action="ppaction://hlinksldjump"/>
          </p:cNvPr>
          <p:cNvSpPr/>
          <p:nvPr/>
        </p:nvSpPr>
        <p:spPr>
          <a:xfrm>
            <a:off x="6602400" y="376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Trending Hashtags and Links</a:t>
            </a:r>
            <a:endParaRPr lang="en-US" sz="2000" dirty="0"/>
          </a:p>
        </p:txBody>
      </p:sp>
      <p:sp>
        <p:nvSpPr>
          <p:cNvPr id="28" name="Text 26">
            <a:hlinkClick r:id="rId23" tooltip="" action="ppaction://hlinksldjump"/>
          </p:cNvPr>
          <p:cNvSpPr/>
          <p:nvPr/>
        </p:nvSpPr>
        <p:spPr>
          <a:xfrm>
            <a:off x="60048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14</a:t>
            </a:r>
            <a:endParaRPr lang="en-US" sz="2000" dirty="0"/>
          </a:p>
        </p:txBody>
      </p:sp>
      <p:sp>
        <p:nvSpPr>
          <p:cNvPr id="29" name="Text 27">
            <a:hlinkClick r:id="rId24" tooltip="" action="ppaction://hlinksldjump"/>
          </p:cNvPr>
          <p:cNvSpPr/>
          <p:nvPr/>
        </p:nvSpPr>
        <p:spPr>
          <a:xfrm>
            <a:off x="6602400" y="4464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Most active sites</a:t>
            </a:r>
            <a:endParaRPr lang="en-US" sz="2000" dirty="0"/>
          </a:p>
        </p:txBody>
      </p:sp>
      <p:sp>
        <p:nvSpPr>
          <p:cNvPr id="30" name="Text 28">
            <a:hlinkClick r:id="rId25" tooltip="" action="ppaction://hlinksldjump"/>
          </p:cNvPr>
          <p:cNvSpPr/>
          <p:nvPr/>
        </p:nvSpPr>
        <p:spPr>
          <a:xfrm>
            <a:off x="60048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15</a:t>
            </a:r>
            <a:endParaRPr lang="en-US" sz="2000" dirty="0"/>
          </a:p>
        </p:txBody>
      </p:sp>
      <p:sp>
        <p:nvSpPr>
          <p:cNvPr id="31" name="Text 29">
            <a:hlinkClick r:id="rId26" tooltip="" action="ppaction://hlinksldjump"/>
          </p:cNvPr>
          <p:cNvSpPr/>
          <p:nvPr/>
        </p:nvSpPr>
        <p:spPr>
          <a:xfrm>
            <a:off x="6602400" y="515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Current Presence Score</a:t>
            </a:r>
            <a:endParaRPr lang="en-US" sz="2000" dirty="0"/>
          </a:p>
        </p:txBody>
      </p:sp>
      <p:sp>
        <p:nvSpPr>
          <p:cNvPr id="32" name="Text 30">
            <a:hlinkClick r:id="rId27" tooltip="" action="ppaction://hlinksldjump"/>
          </p:cNvPr>
          <p:cNvSpPr/>
          <p:nvPr/>
        </p:nvSpPr>
        <p:spPr>
          <a:xfrm>
            <a:off x="60048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u="none" dirty="0">
                <a:solidFill>
                  <a:srgbClr val="057F4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16</a:t>
            </a:r>
            <a:endParaRPr lang="en-US" sz="2000" dirty="0"/>
          </a:p>
        </p:txBody>
      </p:sp>
      <p:sp>
        <p:nvSpPr>
          <p:cNvPr id="33" name="Text 31">
            <a:hlinkClick r:id="rId28" tooltip="" action="ppaction://hlinksldjump"/>
          </p:cNvPr>
          <p:cNvSpPr/>
          <p:nvPr/>
        </p:nvSpPr>
        <p:spPr>
          <a:xfrm>
            <a:off x="6602400" y="5853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u="none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most popular emojis ...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0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4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Total mentions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4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4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+750%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44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988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Total reach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88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460 164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88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+4925%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48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92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Positive mentions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92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92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52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96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Negative mentions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96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6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596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+200%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56000" y="1620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00000" y="1728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Average Presence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00000" y="2268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1/100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900000" y="2304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0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4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4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$23 779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4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44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88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reach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88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460 164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988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+4925%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48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92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Non-Social media reach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92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292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96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User generated content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96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96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+750%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56000" y="2988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900000" y="3096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mentions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900000" y="3636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900000" y="3672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+750%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0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84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Non-Social media mentions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4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84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844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988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reactions (e.g. likes)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988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15 568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988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+11020%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148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292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comments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292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286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292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+3078%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452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596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Social media shares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596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926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596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0000"/>
                </a:solidFill>
              </a:rPr>
              <a:t>0%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9756000" y="4356000"/>
            <a:ext cx="2088000" cy="1152000"/>
          </a:xfrm>
          <a:prstGeom prst="roundRect">
            <a:avLst>
              <a:gd name="adj" fmla="val 9525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9900000" y="4464000"/>
            <a:ext cx="1800000" cy="21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Total social media interactions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00000" y="5004000"/>
            <a:ext cx="12528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16 780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9900000" y="5040000"/>
            <a:ext cx="18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B050"/>
                </a:solidFill>
              </a:rPr>
              <a:t>+11162%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540000" y="5940000"/>
            <a:ext cx="11112120" cy="144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66666"/>
                </a:solidFill>
              </a:rPr>
              <a:t>% Change: Percentage compared to the previous data range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The most popular mentions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80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580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584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7" name="Text 5"/>
          <p:cNvSpPr/>
          <p:nvPr/>
        </p:nvSpPr>
        <p:spPr>
          <a:xfrm>
            <a:off x="46584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00" y="2206800"/>
            <a:ext cx="507600" cy="507600"/>
          </a:xfrm>
          <a:prstGeom prst="ellipse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13464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raphaelt565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64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71 997 followers • 2025-12-04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04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« Blocage total sur l’axe Ngaoundéré–Meiganga. Les camionneurs exigent désorm...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80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5580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84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46584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" y="3952800"/>
            <a:ext cx="507600" cy="507600"/>
          </a:xfrm>
          <a:prstGeom prst="ellipse">
            <a:avLst/>
          </a:prstGeom>
        </p:spPr>
      </p:pic>
      <p:sp>
        <p:nvSpPr>
          <p:cNvPr id="17" name="Text 13">
            <a:hlinkClick r:id="rId4" tooltip=""/>
          </p:cNvPr>
          <p:cNvSpPr/>
          <p:nvPr/>
        </p:nvSpPr>
        <p:spPr>
          <a:xfrm>
            <a:off x="13464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raphaelt565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464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71 997 followers • 2025-12-05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04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Axe Ngaoundéré–Meiganga toujours paralysé ! Les camionneurs maintiennent le b...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388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1" name="Shape 17"/>
          <p:cNvSpPr/>
          <p:nvPr/>
        </p:nvSpPr>
        <p:spPr>
          <a:xfrm>
            <a:off x="62388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03392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92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800" y="2206800"/>
            <a:ext cx="507600" cy="507600"/>
          </a:xfrm>
          <a:prstGeom prst="ellipse">
            <a:avLst/>
          </a:prstGeom>
        </p:spPr>
      </p:pic>
      <p:sp>
        <p:nvSpPr>
          <p:cNvPr id="25" name="Text 20">
            <a:hlinkClick r:id="rId6" tooltip=""/>
          </p:cNvPr>
          <p:cNvSpPr/>
          <p:nvPr/>
        </p:nvSpPr>
        <p:spPr>
          <a:xfrm>
            <a:off x="70272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candyde11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0272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28 201 followers • 2025-12-05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612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cameroun infos : Tensions à Meiganga : des gendarmes démontent leur checkpoin...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2388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9" name="Shape 24"/>
          <p:cNvSpPr/>
          <p:nvPr/>
        </p:nvSpPr>
        <p:spPr>
          <a:xfrm>
            <a:off x="62388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3392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31" name="Text 26"/>
          <p:cNvSpPr/>
          <p:nvPr/>
        </p:nvSpPr>
        <p:spPr>
          <a:xfrm>
            <a:off x="103392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800" y="3952800"/>
            <a:ext cx="507600" cy="507600"/>
          </a:xfrm>
          <a:prstGeom prst="ellipse">
            <a:avLst/>
          </a:prstGeom>
        </p:spPr>
      </p:pic>
      <p:sp>
        <p:nvSpPr>
          <p:cNvPr id="33" name="Text 27">
            <a:hlinkClick r:id="rId8" tooltip=""/>
          </p:cNvPr>
          <p:cNvSpPr/>
          <p:nvPr/>
        </p:nvSpPr>
        <p:spPr>
          <a:xfrm>
            <a:off x="70272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enfantbenit237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0272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134 followers • 2025-12-05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612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Axe Ngaoundéré–Meiganga : la route est fortement perturbée ce matin. Plusieur...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 from top public profiles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580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5580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584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7" name="Text 5"/>
          <p:cNvSpPr/>
          <p:nvPr/>
        </p:nvSpPr>
        <p:spPr>
          <a:xfrm>
            <a:off x="46584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000" y="2206800"/>
            <a:ext cx="507600" cy="507600"/>
          </a:xfrm>
          <a:prstGeom prst="ellipse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13464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raphaelt565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3464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71 997 followers • 2025-12-04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04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« Blocage total sur l’axe Ngaoundéré–Meiganga. Les camionneurs exigent désorm...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80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5580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584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7F7F9"/>
          </a:solidFill>
          <a:ln/>
        </p:spPr>
      </p:sp>
      <p:sp>
        <p:nvSpPr>
          <p:cNvPr id="15" name="Text 12"/>
          <p:cNvSpPr/>
          <p:nvPr/>
        </p:nvSpPr>
        <p:spPr>
          <a:xfrm>
            <a:off x="46584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B4C0"/>
                </a:solidFill>
              </a:rPr>
              <a:t>Neutral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000" y="3952800"/>
            <a:ext cx="507600" cy="507600"/>
          </a:xfrm>
          <a:prstGeom prst="ellipse">
            <a:avLst/>
          </a:prstGeom>
        </p:spPr>
      </p:pic>
      <p:sp>
        <p:nvSpPr>
          <p:cNvPr id="17" name="Text 13">
            <a:hlinkClick r:id="rId4" tooltip=""/>
          </p:cNvPr>
          <p:cNvSpPr/>
          <p:nvPr/>
        </p:nvSpPr>
        <p:spPr>
          <a:xfrm>
            <a:off x="13464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enfantbenit237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3464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134 followers • 2025-12-05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804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Axe Ngaoundéré–Meiganga : la route est fortement perturbée ce matin. Plusieur...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238800" y="2026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1" name="Shape 17"/>
          <p:cNvSpPr/>
          <p:nvPr/>
        </p:nvSpPr>
        <p:spPr>
          <a:xfrm>
            <a:off x="6238800" y="2026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10339200" y="2210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23" name="Text 19"/>
          <p:cNvSpPr/>
          <p:nvPr/>
        </p:nvSpPr>
        <p:spPr>
          <a:xfrm>
            <a:off x="10339200" y="2210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8800" y="2206800"/>
            <a:ext cx="507600" cy="507600"/>
          </a:xfrm>
          <a:prstGeom prst="ellipse">
            <a:avLst/>
          </a:prstGeom>
        </p:spPr>
      </p:pic>
      <p:sp>
        <p:nvSpPr>
          <p:cNvPr id="25" name="Text 20">
            <a:hlinkClick r:id="rId6" tooltip=""/>
          </p:cNvPr>
          <p:cNvSpPr/>
          <p:nvPr/>
        </p:nvSpPr>
        <p:spPr>
          <a:xfrm>
            <a:off x="7027200" y="2196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EsBi_Media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7027200" y="2563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x.com • 1894 followers • 2025-12-06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361200" y="2822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🛑SOCIÉTÉ - AXE NGAOUNDÉRÉ–MEIGANGA : LA COLÈRE MONTE LES CAMIONNEURS RÉCLAME...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6238800" y="3772800"/>
            <a:ext cx="5353200" cy="1422000"/>
          </a:xfrm>
          <a:prstGeom prst="roundRect">
            <a:avLst/>
          </a:prstGeom>
          <a:noFill/>
          <a:ln/>
        </p:spPr>
      </p:sp>
      <p:sp>
        <p:nvSpPr>
          <p:cNvPr id="29" name="Shape 24"/>
          <p:cNvSpPr/>
          <p:nvPr/>
        </p:nvSpPr>
        <p:spPr>
          <a:xfrm>
            <a:off x="6238800" y="3772800"/>
            <a:ext cx="5353200" cy="1422000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3175">
            <a:solidFill>
              <a:srgbClr val="E6E6E6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339200" y="3956400"/>
            <a:ext cx="1000800" cy="334800"/>
          </a:xfrm>
          <a:prstGeom prst="roundRect">
            <a:avLst>
              <a:gd name="adj" fmla="val 136559"/>
            </a:avLst>
          </a:prstGeom>
          <a:solidFill>
            <a:srgbClr val="FFE0E0"/>
          </a:solidFill>
          <a:ln/>
        </p:spPr>
      </p:sp>
      <p:sp>
        <p:nvSpPr>
          <p:cNvPr id="31" name="Text 26"/>
          <p:cNvSpPr/>
          <p:nvPr/>
        </p:nvSpPr>
        <p:spPr>
          <a:xfrm>
            <a:off x="10339200" y="3956400"/>
            <a:ext cx="1000800" cy="33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B3540"/>
                </a:solidFill>
              </a:rPr>
              <a:t>Negative</a:t>
            </a:r>
            <a:endParaRPr lang="en-US" sz="12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8800" y="3952800"/>
            <a:ext cx="507600" cy="507600"/>
          </a:xfrm>
          <a:prstGeom prst="ellipse">
            <a:avLst/>
          </a:prstGeom>
        </p:spPr>
      </p:pic>
      <p:sp>
        <p:nvSpPr>
          <p:cNvPr id="33" name="Text 27">
            <a:hlinkClick r:id="rId8" tooltip=""/>
          </p:cNvPr>
          <p:cNvSpPr/>
          <p:nvPr/>
        </p:nvSpPr>
        <p:spPr>
          <a:xfrm>
            <a:off x="7027200" y="3942000"/>
            <a:ext cx="3315600" cy="39960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1E2534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candyde11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027200" y="4309200"/>
            <a:ext cx="9144000" cy="22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0"/>
                </a:solidFill>
              </a:rPr>
              <a:t>tiktok.com • 28 201 followers • 2025-12-05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61200" y="4568400"/>
            <a:ext cx="4978800" cy="50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534"/>
                </a:solidFill>
              </a:rPr>
              <a:t>eux-mêmes Tensions à Meiganga, des camionneurs bloquent l’axe Ngaoundéré–Meig...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580400" y="1738800"/>
          <a:ext cx="9712800" cy="428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Reach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580400" y="1738800"/>
          <a:ext cx="9712800" cy="428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Mentions by category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580400" y="1738800"/>
          <a:ext cx="9712800" cy="428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Sentiment by categories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677600" y="1789200"/>
          <a:ext cx="9543600" cy="439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Influencers: most share of voice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00000" y="1810800"/>
          <a:ext cx="6840000" cy="2880000"/>
        </p:xfrm>
        <a:graphic>
          <a:graphicData uri="http://schemas.openxmlformats.org/drawingml/2006/table">
            <a:tbl>
              <a:tblPr/>
              <a:tblGrid>
                <a:gridCol w="540000"/>
                <a:gridCol w="1980000"/>
                <a:gridCol w="1440000"/>
                <a:gridCol w="1440000"/>
                <a:gridCol w="14400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Profile name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Share of Voice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raphaelt565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tiktok.com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283 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61.465%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EsBi_Media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x.com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64 200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13.952%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enfantbenit237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tiktok.com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51 364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11.162%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candyde11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tiktok.com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39 658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8.618%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ActuMédia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youtube.com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10 972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2.384%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72000" y="2422800"/>
            <a:ext cx="324000" cy="324000"/>
          </a:xfrm>
          <a:prstGeom prst="ellipse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72000" y="2962800"/>
            <a:ext cx="324000" cy="324000"/>
          </a:xfrm>
          <a:prstGeom prst="ellipse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72000" y="3502800"/>
            <a:ext cx="324000" cy="324000"/>
          </a:xfrm>
          <a:prstGeom prst="ellipse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772000" y="4042800"/>
            <a:ext cx="324000" cy="324000"/>
          </a:xfrm>
          <a:prstGeom prst="ellipse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72000" y="4582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Influencers: most followers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60000" y="1810800"/>
          <a:ext cx="9720000" cy="2880000"/>
        </p:xfrm>
        <a:graphic>
          <a:graphicData uri="http://schemas.openxmlformats.org/drawingml/2006/table">
            <a:tbl>
              <a:tblPr/>
              <a:tblGrid>
                <a:gridCol w="720000"/>
                <a:gridCol w="2880000"/>
                <a:gridCol w="1080000"/>
                <a:gridCol w="1681200"/>
                <a:gridCol w="1681200"/>
                <a:gridCol w="16776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Profile name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Reach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Followers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Influencer Score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raphaelt565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tiktok.com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283 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71 997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ActuMédia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youtube.com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10 972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30 200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candyde11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tiktok.com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39 658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28 201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AUDIENCE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youtube.com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1142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26 400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Cameroon Concord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AB4C0"/>
                          </a:solidFill>
                        </a:rPr>
                        <a:t>facebook.com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1507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25 128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48000" y="2440800"/>
            <a:ext cx="324000" cy="324000"/>
          </a:xfrm>
          <a:prstGeom prst="ellipse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48000" y="2980800"/>
            <a:ext cx="324000" cy="324000"/>
          </a:xfrm>
          <a:prstGeom prst="ellipse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548000" y="3520800"/>
            <a:ext cx="324000" cy="324000"/>
          </a:xfrm>
          <a:prstGeom prst="ellipse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548000" y="4060800"/>
            <a:ext cx="324000" cy="324000"/>
          </a:xfrm>
          <a:prstGeom prst="ellipse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548000" y="4600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Trending Hashtags and Links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96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2314800"/>
                <a:gridCol w="2314800"/>
              </a:tblGrid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Hashtag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#ngaoundéré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#meiganga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#cameroun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#actu237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#actualitécameroun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#camionneurs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#routebloquée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#237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72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3549600"/>
                <a:gridCol w="1080000"/>
              </a:tblGrid>
              <a:tr h="64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Link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https://x.com/esbi_media/status/...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https://x.com/westcameroons/stat...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https://x.com/esbi_media/status/...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https://x.com/esbi_media/status/...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u="sng" dirty="0">
                          <a:solidFill>
                            <a:srgbClr val="000000"/>
                          </a:solidFill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https://panoramapapers.com/camer...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Most active sites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96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720000"/>
                <a:gridCol w="2829600"/>
                <a:gridCol w="10800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youtube.com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x.com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tiktok.com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facebook.com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C2C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87200" y="1666800"/>
          <a:ext cx="4629600" cy="3870000"/>
        </p:xfrm>
        <a:graphic>
          <a:graphicData uri="http://schemas.openxmlformats.org/drawingml/2006/table">
            <a:tbl>
              <a:tblPr/>
              <a:tblGrid>
                <a:gridCol w="720000"/>
                <a:gridCol w="2829600"/>
                <a:gridCol w="1080000"/>
              </a:tblGrid>
              <a:tr h="54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Source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AB4C0"/>
                          </a:solidFill>
                        </a:rPr>
                        <a:t>Mentions</a:t>
                      </a:r>
                      <a:endParaRPr lang="en-US" sz="1200" dirty="0"/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8100" cap="flat" cmpd="sng" algn="ctr">
                      <a:solidFill>
                        <a:srgbClr val="67788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1600" y="2296800"/>
            <a:ext cx="324000" cy="324000"/>
          </a:xfrm>
          <a:prstGeom prst="ellipse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281600" y="2836800"/>
            <a:ext cx="324000" cy="324000"/>
          </a:xfrm>
          <a:prstGeom prst="ellipse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81600" y="3376800"/>
            <a:ext cx="324000" cy="324000"/>
          </a:xfrm>
          <a:prstGeom prst="ellipse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81600" y="3916800"/>
            <a:ext cx="324000" cy="324000"/>
          </a:xfrm>
          <a:prstGeom prst="ellipse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Current Presence Score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448000" y="2826000"/>
            <a:ext cx="900000" cy="7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534"/>
                </a:solidFill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57200" y="4456800"/>
            <a:ext cx="3286800" cy="42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AAB4C0"/>
                </a:solidFill>
              </a:rPr>
              <a:t>Your Presence Score is higher than 11% of brands</a:t>
            </a:r>
            <a:endParaRPr lang="en-US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731600" y="2037600"/>
          <a:ext cx="2300400" cy="23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5727600" y="2037600"/>
          <a:ext cx="5662800" cy="333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141" y="1159200"/>
            <a:ext cx="9176918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648000" y="680400"/>
            <a:ext cx="968400" cy="968400"/>
          </a:xfrm>
          <a:prstGeom prst="arc">
            <a:avLst/>
          </a:prstGeom>
          <a:noFill/>
          <a:ln w="88900">
            <a:solidFill>
              <a:srgbClr val="057F4A"/>
            </a:solidFill>
            <a:prstDash val="solid"/>
          </a:ln>
        </p:spPr>
      </p:sp>
      <p:sp>
        <p:nvSpPr>
          <p:cNvPr id="3" name="Text 0"/>
          <p:cNvSpPr/>
          <p:nvPr/>
        </p:nvSpPr>
        <p:spPr>
          <a:xfrm>
            <a:off x="914400" y="83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Context of a discussion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08141" y="1519200"/>
            <a:ext cx="9176918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90400" y="62280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057F4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2800" y="2977200"/>
            <a:ext cx="9144000" cy="88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5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2350800" y="1069200"/>
            <a:ext cx="1710000" cy="1710000"/>
          </a:xfrm>
          <a:prstGeom prst="ellipse">
            <a:avLst/>
          </a:prstGeom>
          <a:solidFill>
            <a:srgbClr val="E4E8EB"/>
          </a:solidFill>
          <a:ln/>
        </p:spPr>
      </p:sp>
      <p:sp>
        <p:nvSpPr>
          <p:cNvPr id="4" name="Shape 2"/>
          <p:cNvSpPr/>
          <p:nvPr/>
        </p:nvSpPr>
        <p:spPr>
          <a:xfrm>
            <a:off x="9936000" y="799200"/>
            <a:ext cx="993600" cy="993600"/>
          </a:xfrm>
          <a:prstGeom prst="ellipse">
            <a:avLst/>
          </a:prstGeom>
          <a:solidFill>
            <a:srgbClr val="636363"/>
          </a:solidFill>
          <a:ln/>
        </p:spPr>
      </p:sp>
      <p:sp>
        <p:nvSpPr>
          <p:cNvPr id="5" name="Shape 3"/>
          <p:cNvSpPr/>
          <p:nvPr/>
        </p:nvSpPr>
        <p:spPr>
          <a:xfrm>
            <a:off x="11134800" y="5536800"/>
            <a:ext cx="493200" cy="493200"/>
          </a:xfrm>
          <a:prstGeom prst="ellipse">
            <a:avLst/>
          </a:prstGeom>
          <a:solidFill>
            <a:srgbClr val="057F4A"/>
          </a:solidFill>
          <a:ln/>
        </p:spPr>
      </p:sp>
      <p:sp>
        <p:nvSpPr>
          <p:cNvPr id="6" name="Shape 4"/>
          <p:cNvSpPr/>
          <p:nvPr/>
        </p:nvSpPr>
        <p:spPr>
          <a:xfrm>
            <a:off x="-1468800" y="4946400"/>
            <a:ext cx="3906000" cy="3906000"/>
          </a:xfrm>
          <a:prstGeom prst="ellipse">
            <a:avLst/>
          </a:prstGeom>
          <a:noFill/>
          <a:ln w="444500">
            <a:solidFill>
              <a:srgbClr val="057F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2025-12-07T08:56:21Z</dcterms:created>
  <dcterms:modified xsi:type="dcterms:W3CDTF">2025-12-07T08:56:21Z</dcterms:modified>
</cp:coreProperties>
</file>