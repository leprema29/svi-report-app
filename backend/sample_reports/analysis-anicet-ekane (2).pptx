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1" y="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Mentions</c:v>
                </c:pt>
              </c:strCache>
            </c:strRef>
          </c:tx>
          <c:spPr>
            <a:ln w="25400" cap="flat">
              <a:solidFill>
                <a:srgbClr val="2D85E5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Sheet1!$A$2:$A$62</c:f>
              <c:strCache>
                <c:ptCount val="61"/>
                <c:pt idx="0">
                  <c:v>2025-11-01</c:v>
                </c:pt>
                <c:pt idx="1">
                  <c:v>2025-11-02</c:v>
                </c:pt>
                <c:pt idx="2">
                  <c:v>2025-11-03</c:v>
                </c:pt>
                <c:pt idx="3">
                  <c:v>2025-11-04</c:v>
                </c:pt>
                <c:pt idx="4">
                  <c:v>2025-11-05</c:v>
                </c:pt>
                <c:pt idx="5">
                  <c:v>2025-11-06</c:v>
                </c:pt>
                <c:pt idx="6">
                  <c:v>2025-11-07</c:v>
                </c:pt>
                <c:pt idx="7">
                  <c:v>2025-11-08</c:v>
                </c:pt>
                <c:pt idx="8">
                  <c:v>2025-11-09</c:v>
                </c:pt>
                <c:pt idx="9">
                  <c:v>2025-11-10</c:v>
                </c:pt>
                <c:pt idx="10">
                  <c:v>2025-11-11</c:v>
                </c:pt>
                <c:pt idx="11">
                  <c:v>2025-11-12</c:v>
                </c:pt>
                <c:pt idx="12">
                  <c:v>2025-11-13</c:v>
                </c:pt>
                <c:pt idx="13">
                  <c:v>2025-11-14</c:v>
                </c:pt>
                <c:pt idx="14">
                  <c:v>2025-11-15</c:v>
                </c:pt>
                <c:pt idx="15">
                  <c:v>2025-11-16</c:v>
                </c:pt>
                <c:pt idx="16">
                  <c:v>2025-11-17</c:v>
                </c:pt>
                <c:pt idx="17">
                  <c:v>2025-11-18</c:v>
                </c:pt>
                <c:pt idx="18">
                  <c:v>2025-11-19</c:v>
                </c:pt>
                <c:pt idx="19">
                  <c:v>2025-11-20</c:v>
                </c:pt>
                <c:pt idx="20">
                  <c:v>2025-11-21</c:v>
                </c:pt>
                <c:pt idx="21">
                  <c:v>2025-11-22</c:v>
                </c:pt>
                <c:pt idx="22">
                  <c:v>2025-11-23</c:v>
                </c:pt>
                <c:pt idx="23">
                  <c:v>2025-11-24</c:v>
                </c:pt>
                <c:pt idx="24">
                  <c:v>2025-11-25</c:v>
                </c:pt>
                <c:pt idx="25">
                  <c:v>2025-11-26</c:v>
                </c:pt>
                <c:pt idx="26">
                  <c:v>2025-11-27</c:v>
                </c:pt>
                <c:pt idx="27">
                  <c:v>2025-11-28</c:v>
                </c:pt>
                <c:pt idx="28">
                  <c:v>2025-11-29</c:v>
                </c:pt>
                <c:pt idx="29">
                  <c:v>2025-11-30</c:v>
                </c:pt>
                <c:pt idx="30">
                  <c:v>2025-12-01</c:v>
                </c:pt>
                <c:pt idx="31">
                  <c:v>2025-12-02</c:v>
                </c:pt>
                <c:pt idx="32">
                  <c:v>2025-12-03</c:v>
                </c:pt>
                <c:pt idx="33">
                  <c:v>2025-12-04</c:v>
                </c:pt>
                <c:pt idx="34">
                  <c:v>2025-12-05</c:v>
                </c:pt>
                <c:pt idx="35">
                  <c:v>2025-12-06</c:v>
                </c:pt>
                <c:pt idx="36">
                  <c:v>2025-12-07</c:v>
                </c:pt>
                <c:pt idx="37">
                  <c:v>2025-12-08</c:v>
                </c:pt>
                <c:pt idx="38">
                  <c:v>2025-12-09</c:v>
                </c:pt>
                <c:pt idx="39">
                  <c:v>2025-12-10</c:v>
                </c:pt>
                <c:pt idx="40">
                  <c:v>2025-12-11</c:v>
                </c:pt>
                <c:pt idx="41">
                  <c:v>2025-12-12</c:v>
                </c:pt>
                <c:pt idx="42">
                  <c:v>2025-12-13</c:v>
                </c:pt>
                <c:pt idx="43">
                  <c:v>2025-12-14</c:v>
                </c:pt>
                <c:pt idx="44">
                  <c:v>2025-12-15</c:v>
                </c:pt>
                <c:pt idx="45">
                  <c:v>2025-12-16</c:v>
                </c:pt>
                <c:pt idx="46">
                  <c:v>2025-12-17</c:v>
                </c:pt>
                <c:pt idx="47">
                  <c:v>2025-12-18</c:v>
                </c:pt>
                <c:pt idx="48">
                  <c:v>2025-12-19</c:v>
                </c:pt>
                <c:pt idx="49">
                  <c:v>2025-12-20</c:v>
                </c:pt>
                <c:pt idx="50">
                  <c:v>2025-12-21</c:v>
                </c:pt>
                <c:pt idx="51">
                  <c:v>2025-12-22</c:v>
                </c:pt>
                <c:pt idx="52">
                  <c:v>2025-12-23</c:v>
                </c:pt>
                <c:pt idx="53">
                  <c:v>2025-12-24</c:v>
                </c:pt>
                <c:pt idx="54">
                  <c:v>2025-12-25</c:v>
                </c:pt>
                <c:pt idx="55">
                  <c:v>2025-12-26</c:v>
                </c:pt>
                <c:pt idx="56">
                  <c:v>2025-12-27</c:v>
                </c:pt>
                <c:pt idx="57">
                  <c:v>2025-12-28</c:v>
                </c:pt>
                <c:pt idx="58">
                  <c:v>2025-12-29</c:v>
                </c:pt>
                <c:pt idx="59">
                  <c:v>2025-12-30</c:v>
                </c:pt>
                <c:pt idx="60">
                  <c:v>2025-12-31</c:v>
                </c:pt>
              </c:strCache>
            </c:strRef>
          </c:cat>
          <c:val>
            <c:numRef>
              <c:f>Sheet1!$B$2:$B$62</c:f>
              <c:numCache>
                <c:formatCode>General</c:formatCode>
                <c:ptCount val="6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6</c:v>
                </c:pt>
                <c:pt idx="39">
                  <c:v>38</c:v>
                </c:pt>
                <c:pt idx="40">
                  <c:v>25</c:v>
                </c:pt>
                <c:pt idx="41">
                  <c:v>10</c:v>
                </c:pt>
                <c:pt idx="42">
                  <c:v>2</c:v>
                </c:pt>
                <c:pt idx="43">
                  <c:v>9</c:v>
                </c:pt>
                <c:pt idx="44">
                  <c:v>39</c:v>
                </c:pt>
                <c:pt idx="45">
                  <c:v>21</c:v>
                </c:pt>
                <c:pt idx="46">
                  <c:v>11</c:v>
                </c:pt>
                <c:pt idx="47">
                  <c:v>29</c:v>
                </c:pt>
                <c:pt idx="48">
                  <c:v>4</c:v>
                </c:pt>
                <c:pt idx="49">
                  <c:v>13</c:v>
                </c:pt>
                <c:pt idx="50">
                  <c:v>6</c:v>
                </c:pt>
                <c:pt idx="51">
                  <c:v>6</c:v>
                </c:pt>
                <c:pt idx="52">
                  <c:v>15</c:v>
                </c:pt>
                <c:pt idx="53">
                  <c:v>15</c:v>
                </c:pt>
                <c:pt idx="54">
                  <c:v>11</c:v>
                </c:pt>
                <c:pt idx="55">
                  <c:v>8</c:v>
                </c:pt>
                <c:pt idx="56">
                  <c:v>9</c:v>
                </c:pt>
                <c:pt idx="57">
                  <c:v>4</c:v>
                </c:pt>
                <c:pt idx="58">
                  <c:v>13</c:v>
                </c:pt>
                <c:pt idx="59">
                  <c:v>17</c:v>
                </c:pt>
                <c:pt idx="60">
                  <c:v>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27A-443B-8FEC-3BE5780422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000000"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4F6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Reach</c:v>
                </c:pt>
              </c:strCache>
            </c:strRef>
          </c:tx>
          <c:spPr>
            <a:ln w="25400" cap="flat">
              <a:solidFill>
                <a:srgbClr val="2D85E5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Sheet1!$A$2:$A$62</c:f>
              <c:strCache>
                <c:ptCount val="61"/>
                <c:pt idx="0">
                  <c:v>2025-11-01</c:v>
                </c:pt>
                <c:pt idx="1">
                  <c:v>2025-11-02</c:v>
                </c:pt>
                <c:pt idx="2">
                  <c:v>2025-11-03</c:v>
                </c:pt>
                <c:pt idx="3">
                  <c:v>2025-11-04</c:v>
                </c:pt>
                <c:pt idx="4">
                  <c:v>2025-11-05</c:v>
                </c:pt>
                <c:pt idx="5">
                  <c:v>2025-11-06</c:v>
                </c:pt>
                <c:pt idx="6">
                  <c:v>2025-11-07</c:v>
                </c:pt>
                <c:pt idx="7">
                  <c:v>2025-11-08</c:v>
                </c:pt>
                <c:pt idx="8">
                  <c:v>2025-11-09</c:v>
                </c:pt>
                <c:pt idx="9">
                  <c:v>2025-11-10</c:v>
                </c:pt>
                <c:pt idx="10">
                  <c:v>2025-11-11</c:v>
                </c:pt>
                <c:pt idx="11">
                  <c:v>2025-11-12</c:v>
                </c:pt>
                <c:pt idx="12">
                  <c:v>2025-11-13</c:v>
                </c:pt>
                <c:pt idx="13">
                  <c:v>2025-11-14</c:v>
                </c:pt>
                <c:pt idx="14">
                  <c:v>2025-11-15</c:v>
                </c:pt>
                <c:pt idx="15">
                  <c:v>2025-11-16</c:v>
                </c:pt>
                <c:pt idx="16">
                  <c:v>2025-11-17</c:v>
                </c:pt>
                <c:pt idx="17">
                  <c:v>2025-11-18</c:v>
                </c:pt>
                <c:pt idx="18">
                  <c:v>2025-11-19</c:v>
                </c:pt>
                <c:pt idx="19">
                  <c:v>2025-11-20</c:v>
                </c:pt>
                <c:pt idx="20">
                  <c:v>2025-11-21</c:v>
                </c:pt>
                <c:pt idx="21">
                  <c:v>2025-11-22</c:v>
                </c:pt>
                <c:pt idx="22">
                  <c:v>2025-11-23</c:v>
                </c:pt>
                <c:pt idx="23">
                  <c:v>2025-11-24</c:v>
                </c:pt>
                <c:pt idx="24">
                  <c:v>2025-11-25</c:v>
                </c:pt>
                <c:pt idx="25">
                  <c:v>2025-11-26</c:v>
                </c:pt>
                <c:pt idx="26">
                  <c:v>2025-11-27</c:v>
                </c:pt>
                <c:pt idx="27">
                  <c:v>2025-11-28</c:v>
                </c:pt>
                <c:pt idx="28">
                  <c:v>2025-11-29</c:v>
                </c:pt>
                <c:pt idx="29">
                  <c:v>2025-11-30</c:v>
                </c:pt>
                <c:pt idx="30">
                  <c:v>2025-12-01</c:v>
                </c:pt>
                <c:pt idx="31">
                  <c:v>2025-12-02</c:v>
                </c:pt>
                <c:pt idx="32">
                  <c:v>2025-12-03</c:v>
                </c:pt>
                <c:pt idx="33">
                  <c:v>2025-12-04</c:v>
                </c:pt>
                <c:pt idx="34">
                  <c:v>2025-12-05</c:v>
                </c:pt>
                <c:pt idx="35">
                  <c:v>2025-12-06</c:v>
                </c:pt>
                <c:pt idx="36">
                  <c:v>2025-12-07</c:v>
                </c:pt>
                <c:pt idx="37">
                  <c:v>2025-12-08</c:v>
                </c:pt>
                <c:pt idx="38">
                  <c:v>2025-12-09</c:v>
                </c:pt>
                <c:pt idx="39">
                  <c:v>2025-12-10</c:v>
                </c:pt>
                <c:pt idx="40">
                  <c:v>2025-12-11</c:v>
                </c:pt>
                <c:pt idx="41">
                  <c:v>2025-12-12</c:v>
                </c:pt>
                <c:pt idx="42">
                  <c:v>2025-12-13</c:v>
                </c:pt>
                <c:pt idx="43">
                  <c:v>2025-12-14</c:v>
                </c:pt>
                <c:pt idx="44">
                  <c:v>2025-12-15</c:v>
                </c:pt>
                <c:pt idx="45">
                  <c:v>2025-12-16</c:v>
                </c:pt>
                <c:pt idx="46">
                  <c:v>2025-12-17</c:v>
                </c:pt>
                <c:pt idx="47">
                  <c:v>2025-12-18</c:v>
                </c:pt>
                <c:pt idx="48">
                  <c:v>2025-12-19</c:v>
                </c:pt>
                <c:pt idx="49">
                  <c:v>2025-12-20</c:v>
                </c:pt>
                <c:pt idx="50">
                  <c:v>2025-12-21</c:v>
                </c:pt>
                <c:pt idx="51">
                  <c:v>2025-12-22</c:v>
                </c:pt>
                <c:pt idx="52">
                  <c:v>2025-12-23</c:v>
                </c:pt>
                <c:pt idx="53">
                  <c:v>2025-12-24</c:v>
                </c:pt>
                <c:pt idx="54">
                  <c:v>2025-12-25</c:v>
                </c:pt>
                <c:pt idx="55">
                  <c:v>2025-12-26</c:v>
                </c:pt>
                <c:pt idx="56">
                  <c:v>2025-12-27</c:v>
                </c:pt>
                <c:pt idx="57">
                  <c:v>2025-12-28</c:v>
                </c:pt>
                <c:pt idx="58">
                  <c:v>2025-12-29</c:v>
                </c:pt>
                <c:pt idx="59">
                  <c:v>2025-12-30</c:v>
                </c:pt>
                <c:pt idx="60">
                  <c:v>2025-12-31</c:v>
                </c:pt>
              </c:strCache>
            </c:strRef>
          </c:cat>
          <c:val>
            <c:numRef>
              <c:f>Sheet1!$B$2:$B$62</c:f>
              <c:numCache>
                <c:formatCode>General</c:formatCode>
                <c:ptCount val="6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47267</c:v>
                </c:pt>
                <c:pt idx="39">
                  <c:v>488915</c:v>
                </c:pt>
                <c:pt idx="40">
                  <c:v>104034</c:v>
                </c:pt>
                <c:pt idx="41">
                  <c:v>30618</c:v>
                </c:pt>
                <c:pt idx="42">
                  <c:v>139000</c:v>
                </c:pt>
                <c:pt idx="43">
                  <c:v>22862</c:v>
                </c:pt>
                <c:pt idx="44">
                  <c:v>288112</c:v>
                </c:pt>
                <c:pt idx="45">
                  <c:v>124191</c:v>
                </c:pt>
                <c:pt idx="46">
                  <c:v>159127</c:v>
                </c:pt>
                <c:pt idx="47">
                  <c:v>193166</c:v>
                </c:pt>
                <c:pt idx="48">
                  <c:v>64301</c:v>
                </c:pt>
                <c:pt idx="49">
                  <c:v>1675778</c:v>
                </c:pt>
                <c:pt idx="50">
                  <c:v>54890</c:v>
                </c:pt>
                <c:pt idx="51">
                  <c:v>24267</c:v>
                </c:pt>
                <c:pt idx="52">
                  <c:v>543998</c:v>
                </c:pt>
                <c:pt idx="53">
                  <c:v>188227</c:v>
                </c:pt>
                <c:pt idx="54">
                  <c:v>837017</c:v>
                </c:pt>
                <c:pt idx="55">
                  <c:v>16153</c:v>
                </c:pt>
                <c:pt idx="56">
                  <c:v>44102</c:v>
                </c:pt>
                <c:pt idx="57">
                  <c:v>182528</c:v>
                </c:pt>
                <c:pt idx="58">
                  <c:v>45653</c:v>
                </c:pt>
                <c:pt idx="59">
                  <c:v>78973</c:v>
                </c:pt>
                <c:pt idx="60">
                  <c:v>6694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C23-4DBA-816A-3CC9C19C1A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000000"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4F6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4.9039984911354209E-2"/>
          <c:y val="3.3791143844335333E-2"/>
          <c:w val="0.79575977618508742"/>
          <c:h val="0.8479662211311147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57F4A"/>
            </a:solidFill>
            <a:effectLst/>
          </c:spPr>
          <c:invertIfNegative val="0"/>
          <c:dLbls>
            <c:delete val="1"/>
          </c:dLbls>
          <c:cat>
            <c:strRef>
              <c:f>Sheet1!$A$1:$A$11</c:f>
              <c:strCache>
                <c:ptCount val="11"/>
                <c:pt idx="1">
                  <c:v>News</c:v>
                </c:pt>
                <c:pt idx="2">
                  <c:v>X (Twitter)</c:v>
                </c:pt>
                <c:pt idx="3">
                  <c:v>Videos</c:v>
                </c:pt>
                <c:pt idx="4">
                  <c:v>Facebook</c:v>
                </c:pt>
                <c:pt idx="5">
                  <c:v>Web</c:v>
                </c:pt>
                <c:pt idx="6">
                  <c:v>TikTok</c:v>
                </c:pt>
                <c:pt idx="7">
                  <c:v>Blogs</c:v>
                </c:pt>
                <c:pt idx="8">
                  <c:v>Other Socials</c:v>
                </c:pt>
                <c:pt idx="9">
                  <c:v>Podcasts</c:v>
                </c:pt>
                <c:pt idx="10">
                  <c:v>Instagram</c:v>
                </c:pt>
              </c:strCache>
            </c:strRef>
          </c:cat>
          <c:val>
            <c:numRef>
              <c:f>Sheet1!$B$1:$B$11</c:f>
              <c:numCache>
                <c:formatCode>General</c:formatCode>
                <c:ptCount val="11"/>
                <c:pt idx="0">
                  <c:v>0</c:v>
                </c:pt>
                <c:pt idx="1">
                  <c:v>135</c:v>
                </c:pt>
                <c:pt idx="2">
                  <c:v>61</c:v>
                </c:pt>
                <c:pt idx="3">
                  <c:v>55</c:v>
                </c:pt>
                <c:pt idx="4">
                  <c:v>36</c:v>
                </c:pt>
                <c:pt idx="5">
                  <c:v>9</c:v>
                </c:pt>
                <c:pt idx="6">
                  <c:v>8</c:v>
                </c:pt>
                <c:pt idx="7">
                  <c:v>7</c:v>
                </c:pt>
                <c:pt idx="8">
                  <c:v>4</c:v>
                </c:pt>
                <c:pt idx="9">
                  <c:v>3</c:v>
                </c:pt>
                <c:pt idx="1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86-4AF3-9770-87360ED4B4B1}"/>
            </c:ext>
          </c:extLst>
        </c:ser>
        <c:ser>
          <c:idx val="1"/>
          <c:order val="1"/>
          <c:invertIfNegative val="0"/>
          <c:dLbls>
            <c:dLbl>
              <c:idx val="1"/>
              <c:layout>
                <c:manualLayout>
                  <c:x val="-5.127940086278625E-3"/>
                  <c:y val="-3.643278376794491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7686-4AF3-9770-87360ED4B4B1}"/>
                </c:ext>
              </c:extLst>
            </c:dLbl>
            <c:dLbl>
              <c:idx val="2"/>
              <c:layout>
                <c:manualLayout>
                  <c:x val="0"/>
                  <c:y val="-2.5981996726677684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686-4AF3-9770-87360ED4B4B1}"/>
                </c:ext>
              </c:extLst>
            </c:dLbl>
            <c:dLbl>
              <c:idx val="3"/>
              <c:layout>
                <c:manualLayout>
                  <c:x val="0"/>
                  <c:y val="-2.309510820149118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686-4AF3-9770-87360ED4B4B1}"/>
                </c:ext>
              </c:extLst>
            </c:dLbl>
            <c:dLbl>
              <c:idx val="4"/>
              <c:layout>
                <c:manualLayout>
                  <c:x val="3.9922041996730794E-3"/>
                  <c:y val="-2.886888525186408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686-4AF3-9770-87360ED4B4B1}"/>
                </c:ext>
              </c:extLst>
            </c:dLbl>
            <c:dLbl>
              <c:idx val="5"/>
              <c:layout>
                <c:manualLayout>
                  <c:x val="-6.6536736661217503E-3"/>
                  <c:y val="-2.02082196763048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686-4AF3-9770-87360ED4B4B1}"/>
                </c:ext>
              </c:extLst>
            </c:dLbl>
            <c:dLbl>
              <c:idx val="6"/>
              <c:layout>
                <c:manualLayout>
                  <c:x val="0"/>
                  <c:y val="-2.598199672667757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686-4AF3-9770-87360ED4B4B1}"/>
                </c:ext>
              </c:extLst>
            </c:dLbl>
            <c:dLbl>
              <c:idx val="7"/>
              <c:layout>
                <c:manualLayout>
                  <c:x val="-1.3307347332244574E-3"/>
                  <c:y val="-2.598199672667757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686-4AF3-9770-87360ED4B4B1}"/>
                </c:ext>
              </c:extLst>
            </c:dLbl>
            <c:dLbl>
              <c:idx val="8"/>
              <c:layout>
                <c:manualLayout>
                  <c:x val="0"/>
                  <c:y val="-1.7321331151118384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686-4AF3-9770-87360ED4B4B1}"/>
                </c:ext>
              </c:extLst>
            </c:dLbl>
            <c:dLbl>
              <c:idx val="9"/>
              <c:layout>
                <c:manualLayout>
                  <c:x val="-2.661469466448622E-3"/>
                  <c:y val="-2.020821967630478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686-4AF3-9770-87360ED4B4B1}"/>
                </c:ext>
              </c:extLst>
            </c:dLbl>
            <c:dLbl>
              <c:idx val="10"/>
              <c:layout>
                <c:manualLayout>
                  <c:x val="-3.9922041996731765E-3"/>
                  <c:y val="-2.020821967630478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686-4AF3-9770-87360ED4B4B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rgbClr val="7030A0"/>
                    </a:solidFill>
                    <a:latin typeface="Arial Black" panose="020B0A04020102020204" pitchFamily="34" charset="0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Sheet1!$A$1:$A$11</c:f>
              <c:strCache>
                <c:ptCount val="11"/>
                <c:pt idx="1">
                  <c:v>News</c:v>
                </c:pt>
                <c:pt idx="2">
                  <c:v>X (Twitter)</c:v>
                </c:pt>
                <c:pt idx="3">
                  <c:v>Videos</c:v>
                </c:pt>
                <c:pt idx="4">
                  <c:v>Facebook</c:v>
                </c:pt>
                <c:pt idx="5">
                  <c:v>Web</c:v>
                </c:pt>
                <c:pt idx="6">
                  <c:v>TikTok</c:v>
                </c:pt>
                <c:pt idx="7">
                  <c:v>Blogs</c:v>
                </c:pt>
                <c:pt idx="8">
                  <c:v>Other Socials</c:v>
                </c:pt>
                <c:pt idx="9">
                  <c:v>Podcasts</c:v>
                </c:pt>
                <c:pt idx="10">
                  <c:v>Instagram</c:v>
                </c:pt>
              </c:strCache>
            </c:strRef>
          </c:cat>
          <c:val>
            <c:numRef>
              <c:f>Sheet1!$C$1:$C$11</c:f>
              <c:numCache>
                <c:formatCode>0.00%</c:formatCode>
                <c:ptCount val="11"/>
                <c:pt idx="1">
                  <c:v>0.42319749216300939</c:v>
                </c:pt>
                <c:pt idx="2">
                  <c:v>0.19122257053291536</c:v>
                </c:pt>
                <c:pt idx="3">
                  <c:v>0.17241379310344829</c:v>
                </c:pt>
                <c:pt idx="4">
                  <c:v>0.11285266457680251</c:v>
                </c:pt>
                <c:pt idx="5">
                  <c:v>2.8213166144200628E-2</c:v>
                </c:pt>
                <c:pt idx="6">
                  <c:v>2.5078369905956112E-2</c:v>
                </c:pt>
                <c:pt idx="7">
                  <c:v>2.1943573667711599E-2</c:v>
                </c:pt>
                <c:pt idx="8">
                  <c:v>1.2539184952978056E-2</c:v>
                </c:pt>
                <c:pt idx="9">
                  <c:v>9.4043887147335428E-3</c:v>
                </c:pt>
                <c:pt idx="10">
                  <c:v>3.134796238244514E-3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686-4AF3-9770-87360ED4B4B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rial Black" panose="020B0A04020102020204" pitchFamily="34" charset="0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F4F6F8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4.7121974491503731E-2"/>
          <c:y val="8.6651714793009996E-2"/>
          <c:w val="0.93305353305741967"/>
          <c:h val="0.75241589571068124"/>
        </c:manualLayout>
      </c:layout>
      <c:lineChart>
        <c:grouping val="standard"/>
        <c:varyColors val="0"/>
        <c:ser>
          <c:idx val="0"/>
          <c:order val="0"/>
          <c:spPr>
            <a:ln w="25400" cap="flat">
              <a:solidFill>
                <a:srgbClr val="057F4A"/>
              </a:solidFill>
              <a:prstDash val="solid"/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Sheet1!$A$32:$A$62</c:f>
              <c:strCache>
                <c:ptCount val="31"/>
                <c:pt idx="0">
                  <c:v>2025-12-01</c:v>
                </c:pt>
                <c:pt idx="1">
                  <c:v>2025-12-02</c:v>
                </c:pt>
                <c:pt idx="2">
                  <c:v>2025-12-03</c:v>
                </c:pt>
                <c:pt idx="3">
                  <c:v>2025-12-04</c:v>
                </c:pt>
                <c:pt idx="4">
                  <c:v>2025-12-05</c:v>
                </c:pt>
                <c:pt idx="5">
                  <c:v>2025-12-06</c:v>
                </c:pt>
                <c:pt idx="6">
                  <c:v>2025-12-07</c:v>
                </c:pt>
                <c:pt idx="7">
                  <c:v>2025-12-08</c:v>
                </c:pt>
                <c:pt idx="8">
                  <c:v>2025-12-09</c:v>
                </c:pt>
                <c:pt idx="9">
                  <c:v>2025-12-10</c:v>
                </c:pt>
                <c:pt idx="10">
                  <c:v>2025-12-11</c:v>
                </c:pt>
                <c:pt idx="11">
                  <c:v>2025-12-12</c:v>
                </c:pt>
                <c:pt idx="12">
                  <c:v>2025-12-13</c:v>
                </c:pt>
                <c:pt idx="13">
                  <c:v>2025-12-14</c:v>
                </c:pt>
                <c:pt idx="14">
                  <c:v>2025-12-15</c:v>
                </c:pt>
                <c:pt idx="15">
                  <c:v>2025-12-16</c:v>
                </c:pt>
                <c:pt idx="16">
                  <c:v>2025-12-17</c:v>
                </c:pt>
                <c:pt idx="17">
                  <c:v>2025-12-18</c:v>
                </c:pt>
                <c:pt idx="18">
                  <c:v>2025-12-19</c:v>
                </c:pt>
                <c:pt idx="19">
                  <c:v>2025-12-20</c:v>
                </c:pt>
                <c:pt idx="20">
                  <c:v>2025-12-21</c:v>
                </c:pt>
                <c:pt idx="21">
                  <c:v>2025-12-22</c:v>
                </c:pt>
                <c:pt idx="22">
                  <c:v>2025-12-23</c:v>
                </c:pt>
                <c:pt idx="23">
                  <c:v>2025-12-24</c:v>
                </c:pt>
                <c:pt idx="24">
                  <c:v>2025-12-25</c:v>
                </c:pt>
                <c:pt idx="25">
                  <c:v>2025-12-26</c:v>
                </c:pt>
                <c:pt idx="26">
                  <c:v>2025-12-27</c:v>
                </c:pt>
                <c:pt idx="27">
                  <c:v>2025-12-28</c:v>
                </c:pt>
                <c:pt idx="28">
                  <c:v>2025-12-29</c:v>
                </c:pt>
                <c:pt idx="29">
                  <c:v>2025-12-30</c:v>
                </c:pt>
                <c:pt idx="30">
                  <c:v>2025-12-31</c:v>
                </c:pt>
              </c:strCache>
            </c:strRef>
          </c:cat>
          <c:val>
            <c:numRef>
              <c:f>Sheet1!$B$32:$B$62</c:f>
              <c:numCache>
                <c:formatCode>General</c:formatCode>
                <c:ptCount val="31"/>
                <c:pt idx="8">
                  <c:v>0</c:v>
                </c:pt>
                <c:pt idx="9">
                  <c:v>7</c:v>
                </c:pt>
                <c:pt idx="10">
                  <c:v>1</c:v>
                </c:pt>
                <c:pt idx="11">
                  <c:v>0</c:v>
                </c:pt>
                <c:pt idx="12">
                  <c:v>0</c:v>
                </c:pt>
                <c:pt idx="13">
                  <c:v>1</c:v>
                </c:pt>
                <c:pt idx="14">
                  <c:v>0</c:v>
                </c:pt>
                <c:pt idx="15">
                  <c:v>1</c:v>
                </c:pt>
                <c:pt idx="16">
                  <c:v>1</c:v>
                </c:pt>
                <c:pt idx="17">
                  <c:v>5</c:v>
                </c:pt>
                <c:pt idx="18">
                  <c:v>0</c:v>
                </c:pt>
                <c:pt idx="19">
                  <c:v>1</c:v>
                </c:pt>
                <c:pt idx="20">
                  <c:v>0</c:v>
                </c:pt>
                <c:pt idx="21">
                  <c:v>0</c:v>
                </c:pt>
                <c:pt idx="22">
                  <c:v>1</c:v>
                </c:pt>
                <c:pt idx="23">
                  <c:v>0</c:v>
                </c:pt>
                <c:pt idx="24">
                  <c:v>2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27F-43BC-92DE-C117EFB07BBF}"/>
            </c:ext>
          </c:extLst>
        </c:ser>
        <c:ser>
          <c:idx val="1"/>
          <c:order val="1"/>
          <c:spPr>
            <a:ln w="25400" cap="flat">
              <a:solidFill>
                <a:srgbClr val="BB3540"/>
              </a:solidFill>
              <a:prstDash val="solid"/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Sheet1!$A$32:$A$62</c:f>
              <c:strCache>
                <c:ptCount val="31"/>
                <c:pt idx="0">
                  <c:v>2025-12-01</c:v>
                </c:pt>
                <c:pt idx="1">
                  <c:v>2025-12-02</c:v>
                </c:pt>
                <c:pt idx="2">
                  <c:v>2025-12-03</c:v>
                </c:pt>
                <c:pt idx="3">
                  <c:v>2025-12-04</c:v>
                </c:pt>
                <c:pt idx="4">
                  <c:v>2025-12-05</c:v>
                </c:pt>
                <c:pt idx="5">
                  <c:v>2025-12-06</c:v>
                </c:pt>
                <c:pt idx="6">
                  <c:v>2025-12-07</c:v>
                </c:pt>
                <c:pt idx="7">
                  <c:v>2025-12-08</c:v>
                </c:pt>
                <c:pt idx="8">
                  <c:v>2025-12-09</c:v>
                </c:pt>
                <c:pt idx="9">
                  <c:v>2025-12-10</c:v>
                </c:pt>
                <c:pt idx="10">
                  <c:v>2025-12-11</c:v>
                </c:pt>
                <c:pt idx="11">
                  <c:v>2025-12-12</c:v>
                </c:pt>
                <c:pt idx="12">
                  <c:v>2025-12-13</c:v>
                </c:pt>
                <c:pt idx="13">
                  <c:v>2025-12-14</c:v>
                </c:pt>
                <c:pt idx="14">
                  <c:v>2025-12-15</c:v>
                </c:pt>
                <c:pt idx="15">
                  <c:v>2025-12-16</c:v>
                </c:pt>
                <c:pt idx="16">
                  <c:v>2025-12-17</c:v>
                </c:pt>
                <c:pt idx="17">
                  <c:v>2025-12-18</c:v>
                </c:pt>
                <c:pt idx="18">
                  <c:v>2025-12-19</c:v>
                </c:pt>
                <c:pt idx="19">
                  <c:v>2025-12-20</c:v>
                </c:pt>
                <c:pt idx="20">
                  <c:v>2025-12-21</c:v>
                </c:pt>
                <c:pt idx="21">
                  <c:v>2025-12-22</c:v>
                </c:pt>
                <c:pt idx="22">
                  <c:v>2025-12-23</c:v>
                </c:pt>
                <c:pt idx="23">
                  <c:v>2025-12-24</c:v>
                </c:pt>
                <c:pt idx="24">
                  <c:v>2025-12-25</c:v>
                </c:pt>
                <c:pt idx="25">
                  <c:v>2025-12-26</c:v>
                </c:pt>
                <c:pt idx="26">
                  <c:v>2025-12-27</c:v>
                </c:pt>
                <c:pt idx="27">
                  <c:v>2025-12-28</c:v>
                </c:pt>
                <c:pt idx="28">
                  <c:v>2025-12-29</c:v>
                </c:pt>
                <c:pt idx="29">
                  <c:v>2025-12-30</c:v>
                </c:pt>
                <c:pt idx="30">
                  <c:v>2025-12-31</c:v>
                </c:pt>
              </c:strCache>
            </c:strRef>
          </c:cat>
          <c:val>
            <c:numRef>
              <c:f>Sheet1!$C$32:$C$62</c:f>
              <c:numCache>
                <c:formatCode>General</c:formatCode>
                <c:ptCount val="31"/>
                <c:pt idx="8">
                  <c:v>3</c:v>
                </c:pt>
                <c:pt idx="9">
                  <c:v>21</c:v>
                </c:pt>
                <c:pt idx="10">
                  <c:v>13</c:v>
                </c:pt>
                <c:pt idx="11">
                  <c:v>3</c:v>
                </c:pt>
                <c:pt idx="12">
                  <c:v>1</c:v>
                </c:pt>
                <c:pt idx="13">
                  <c:v>4</c:v>
                </c:pt>
                <c:pt idx="14">
                  <c:v>14</c:v>
                </c:pt>
                <c:pt idx="15">
                  <c:v>12</c:v>
                </c:pt>
                <c:pt idx="16">
                  <c:v>6</c:v>
                </c:pt>
                <c:pt idx="17">
                  <c:v>13</c:v>
                </c:pt>
                <c:pt idx="18">
                  <c:v>1</c:v>
                </c:pt>
                <c:pt idx="19">
                  <c:v>7</c:v>
                </c:pt>
                <c:pt idx="20">
                  <c:v>2</c:v>
                </c:pt>
                <c:pt idx="21">
                  <c:v>1</c:v>
                </c:pt>
                <c:pt idx="22">
                  <c:v>5</c:v>
                </c:pt>
                <c:pt idx="23">
                  <c:v>3</c:v>
                </c:pt>
                <c:pt idx="24">
                  <c:v>2</c:v>
                </c:pt>
                <c:pt idx="25">
                  <c:v>4</c:v>
                </c:pt>
                <c:pt idx="26">
                  <c:v>4</c:v>
                </c:pt>
                <c:pt idx="27">
                  <c:v>3</c:v>
                </c:pt>
                <c:pt idx="28">
                  <c:v>2</c:v>
                </c:pt>
                <c:pt idx="29">
                  <c:v>3</c:v>
                </c:pt>
                <c:pt idx="30">
                  <c:v>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427F-43BC-92DE-C117EFB07BBF}"/>
            </c:ext>
          </c:extLst>
        </c:ser>
        <c:ser>
          <c:idx val="2"/>
          <c:order val="2"/>
          <c:marker>
            <c:symbol val="none"/>
          </c:marker>
          <c:dLbls>
            <c:delete val="1"/>
          </c:dLbls>
          <c:cat>
            <c:strRef>
              <c:f>Sheet1!$A$32:$A$62</c:f>
              <c:strCache>
                <c:ptCount val="31"/>
                <c:pt idx="0">
                  <c:v>2025-12-01</c:v>
                </c:pt>
                <c:pt idx="1">
                  <c:v>2025-12-02</c:v>
                </c:pt>
                <c:pt idx="2">
                  <c:v>2025-12-03</c:v>
                </c:pt>
                <c:pt idx="3">
                  <c:v>2025-12-04</c:v>
                </c:pt>
                <c:pt idx="4">
                  <c:v>2025-12-05</c:v>
                </c:pt>
                <c:pt idx="5">
                  <c:v>2025-12-06</c:v>
                </c:pt>
                <c:pt idx="6">
                  <c:v>2025-12-07</c:v>
                </c:pt>
                <c:pt idx="7">
                  <c:v>2025-12-08</c:v>
                </c:pt>
                <c:pt idx="8">
                  <c:v>2025-12-09</c:v>
                </c:pt>
                <c:pt idx="9">
                  <c:v>2025-12-10</c:v>
                </c:pt>
                <c:pt idx="10">
                  <c:v>2025-12-11</c:v>
                </c:pt>
                <c:pt idx="11">
                  <c:v>2025-12-12</c:v>
                </c:pt>
                <c:pt idx="12">
                  <c:v>2025-12-13</c:v>
                </c:pt>
                <c:pt idx="13">
                  <c:v>2025-12-14</c:v>
                </c:pt>
                <c:pt idx="14">
                  <c:v>2025-12-15</c:v>
                </c:pt>
                <c:pt idx="15">
                  <c:v>2025-12-16</c:v>
                </c:pt>
                <c:pt idx="16">
                  <c:v>2025-12-17</c:v>
                </c:pt>
                <c:pt idx="17">
                  <c:v>2025-12-18</c:v>
                </c:pt>
                <c:pt idx="18">
                  <c:v>2025-12-19</c:v>
                </c:pt>
                <c:pt idx="19">
                  <c:v>2025-12-20</c:v>
                </c:pt>
                <c:pt idx="20">
                  <c:v>2025-12-21</c:v>
                </c:pt>
                <c:pt idx="21">
                  <c:v>2025-12-22</c:v>
                </c:pt>
                <c:pt idx="22">
                  <c:v>2025-12-23</c:v>
                </c:pt>
                <c:pt idx="23">
                  <c:v>2025-12-24</c:v>
                </c:pt>
                <c:pt idx="24">
                  <c:v>2025-12-25</c:v>
                </c:pt>
                <c:pt idx="25">
                  <c:v>2025-12-26</c:v>
                </c:pt>
                <c:pt idx="26">
                  <c:v>2025-12-27</c:v>
                </c:pt>
                <c:pt idx="27">
                  <c:v>2025-12-28</c:v>
                </c:pt>
                <c:pt idx="28">
                  <c:v>2025-12-29</c:v>
                </c:pt>
                <c:pt idx="29">
                  <c:v>2025-12-30</c:v>
                </c:pt>
                <c:pt idx="30">
                  <c:v>2025-12-31</c:v>
                </c:pt>
              </c:strCache>
            </c:strRef>
          </c:cat>
          <c:val>
            <c:numRef>
              <c:f>Sheet1!$D$32:$D$62</c:f>
              <c:numCache>
                <c:formatCode>General</c:formatCode>
                <c:ptCount val="31"/>
                <c:pt idx="0">
                  <c:v>0</c:v>
                </c:pt>
                <c:pt idx="8" formatCode="0.00%">
                  <c:v>0</c:v>
                </c:pt>
                <c:pt idx="9" formatCode="0.00%">
                  <c:v>0.35</c:v>
                </c:pt>
                <c:pt idx="10" formatCode="0.00%">
                  <c:v>0.05</c:v>
                </c:pt>
                <c:pt idx="11" formatCode="0.00%">
                  <c:v>0</c:v>
                </c:pt>
                <c:pt idx="12" formatCode="0.00%">
                  <c:v>0</c:v>
                </c:pt>
                <c:pt idx="13" formatCode="0.00%">
                  <c:v>0.05</c:v>
                </c:pt>
                <c:pt idx="14" formatCode="0.00%">
                  <c:v>0</c:v>
                </c:pt>
                <c:pt idx="15" formatCode="0.00%">
                  <c:v>0.05</c:v>
                </c:pt>
                <c:pt idx="16" formatCode="0.00%">
                  <c:v>0.05</c:v>
                </c:pt>
                <c:pt idx="17" formatCode="0.00%">
                  <c:v>0.25</c:v>
                </c:pt>
                <c:pt idx="18" formatCode="0.00%">
                  <c:v>0</c:v>
                </c:pt>
                <c:pt idx="19" formatCode="0.00%">
                  <c:v>0.05</c:v>
                </c:pt>
                <c:pt idx="20" formatCode="0.00%">
                  <c:v>0</c:v>
                </c:pt>
                <c:pt idx="21" formatCode="0.00%">
                  <c:v>0</c:v>
                </c:pt>
                <c:pt idx="22" formatCode="0.00%">
                  <c:v>0.05</c:v>
                </c:pt>
                <c:pt idx="23" formatCode="0.00%">
                  <c:v>0</c:v>
                </c:pt>
                <c:pt idx="24" formatCode="0.00%">
                  <c:v>0.1</c:v>
                </c:pt>
                <c:pt idx="25" formatCode="0.00%">
                  <c:v>0</c:v>
                </c:pt>
                <c:pt idx="26" formatCode="0.00%">
                  <c:v>0</c:v>
                </c:pt>
                <c:pt idx="27" formatCode="0.00%">
                  <c:v>0</c:v>
                </c:pt>
                <c:pt idx="28" formatCode="0.00%">
                  <c:v>0</c:v>
                </c:pt>
                <c:pt idx="29" formatCode="0.00%">
                  <c:v>0</c:v>
                </c:pt>
                <c:pt idx="30" formatCode="0.00%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427F-43BC-92DE-C117EFB07BBF}"/>
            </c:ext>
          </c:extLst>
        </c:ser>
        <c:ser>
          <c:idx val="3"/>
          <c:order val="3"/>
          <c:marker>
            <c:symbol val="none"/>
          </c:marker>
          <c:dLbls>
            <c:delete val="1"/>
          </c:dLbls>
          <c:cat>
            <c:strRef>
              <c:f>Sheet1!$A$32:$A$62</c:f>
              <c:strCache>
                <c:ptCount val="31"/>
                <c:pt idx="0">
                  <c:v>2025-12-01</c:v>
                </c:pt>
                <c:pt idx="1">
                  <c:v>2025-12-02</c:v>
                </c:pt>
                <c:pt idx="2">
                  <c:v>2025-12-03</c:v>
                </c:pt>
                <c:pt idx="3">
                  <c:v>2025-12-04</c:v>
                </c:pt>
                <c:pt idx="4">
                  <c:v>2025-12-05</c:v>
                </c:pt>
                <c:pt idx="5">
                  <c:v>2025-12-06</c:v>
                </c:pt>
                <c:pt idx="6">
                  <c:v>2025-12-07</c:v>
                </c:pt>
                <c:pt idx="7">
                  <c:v>2025-12-08</c:v>
                </c:pt>
                <c:pt idx="8">
                  <c:v>2025-12-09</c:v>
                </c:pt>
                <c:pt idx="9">
                  <c:v>2025-12-10</c:v>
                </c:pt>
                <c:pt idx="10">
                  <c:v>2025-12-11</c:v>
                </c:pt>
                <c:pt idx="11">
                  <c:v>2025-12-12</c:v>
                </c:pt>
                <c:pt idx="12">
                  <c:v>2025-12-13</c:v>
                </c:pt>
                <c:pt idx="13">
                  <c:v>2025-12-14</c:v>
                </c:pt>
                <c:pt idx="14">
                  <c:v>2025-12-15</c:v>
                </c:pt>
                <c:pt idx="15">
                  <c:v>2025-12-16</c:v>
                </c:pt>
                <c:pt idx="16">
                  <c:v>2025-12-17</c:v>
                </c:pt>
                <c:pt idx="17">
                  <c:v>2025-12-18</c:v>
                </c:pt>
                <c:pt idx="18">
                  <c:v>2025-12-19</c:v>
                </c:pt>
                <c:pt idx="19">
                  <c:v>2025-12-20</c:v>
                </c:pt>
                <c:pt idx="20">
                  <c:v>2025-12-21</c:v>
                </c:pt>
                <c:pt idx="21">
                  <c:v>2025-12-22</c:v>
                </c:pt>
                <c:pt idx="22">
                  <c:v>2025-12-23</c:v>
                </c:pt>
                <c:pt idx="23">
                  <c:v>2025-12-24</c:v>
                </c:pt>
                <c:pt idx="24">
                  <c:v>2025-12-25</c:v>
                </c:pt>
                <c:pt idx="25">
                  <c:v>2025-12-26</c:v>
                </c:pt>
                <c:pt idx="26">
                  <c:v>2025-12-27</c:v>
                </c:pt>
                <c:pt idx="27">
                  <c:v>2025-12-28</c:v>
                </c:pt>
                <c:pt idx="28">
                  <c:v>2025-12-29</c:v>
                </c:pt>
                <c:pt idx="29">
                  <c:v>2025-12-30</c:v>
                </c:pt>
                <c:pt idx="30">
                  <c:v>2025-12-31</c:v>
                </c:pt>
              </c:strCache>
            </c:strRef>
          </c:cat>
          <c:val>
            <c:numRef>
              <c:f>Sheet1!$E$32:$E$62</c:f>
              <c:numCache>
                <c:formatCode>General</c:formatCode>
                <c:ptCount val="31"/>
                <c:pt idx="0">
                  <c:v>0</c:v>
                </c:pt>
                <c:pt idx="8" formatCode="0.00%">
                  <c:v>2.2900763358778626E-2</c:v>
                </c:pt>
                <c:pt idx="9" formatCode="0.00%">
                  <c:v>0.16030534351145037</c:v>
                </c:pt>
                <c:pt idx="10" formatCode="0.00%">
                  <c:v>9.9236641221374045E-2</c:v>
                </c:pt>
                <c:pt idx="11" formatCode="0.00%">
                  <c:v>2.2900763358778626E-2</c:v>
                </c:pt>
                <c:pt idx="12" formatCode="0.00%">
                  <c:v>7.6335877862595417E-3</c:v>
                </c:pt>
                <c:pt idx="13" formatCode="0.00%">
                  <c:v>3.0534351145038167E-2</c:v>
                </c:pt>
                <c:pt idx="14" formatCode="0.00%">
                  <c:v>0.10687022900763359</c:v>
                </c:pt>
                <c:pt idx="15" formatCode="0.00%">
                  <c:v>9.1603053435114504E-2</c:v>
                </c:pt>
                <c:pt idx="16" formatCode="0.00%">
                  <c:v>4.5801526717557252E-2</c:v>
                </c:pt>
                <c:pt idx="17" formatCode="0.00%">
                  <c:v>9.9236641221374045E-2</c:v>
                </c:pt>
                <c:pt idx="18" formatCode="0.00%">
                  <c:v>7.6335877862595417E-3</c:v>
                </c:pt>
                <c:pt idx="19" formatCode="0.00%">
                  <c:v>5.3435114503816793E-2</c:v>
                </c:pt>
                <c:pt idx="20" formatCode="0.00%">
                  <c:v>1.5267175572519083E-2</c:v>
                </c:pt>
                <c:pt idx="21" formatCode="0.00%">
                  <c:v>7.6335877862595417E-3</c:v>
                </c:pt>
                <c:pt idx="22" formatCode="0.00%">
                  <c:v>3.8167938931297711E-2</c:v>
                </c:pt>
                <c:pt idx="23" formatCode="0.00%">
                  <c:v>2.2900763358778626E-2</c:v>
                </c:pt>
                <c:pt idx="24" formatCode="0.00%">
                  <c:v>1.5267175572519083E-2</c:v>
                </c:pt>
                <c:pt idx="25" formatCode="0.00%">
                  <c:v>3.0534351145038167E-2</c:v>
                </c:pt>
                <c:pt idx="26" formatCode="0.00%">
                  <c:v>3.0534351145038167E-2</c:v>
                </c:pt>
                <c:pt idx="27" formatCode="0.00%">
                  <c:v>2.2900763358778626E-2</c:v>
                </c:pt>
                <c:pt idx="28" formatCode="0.00%">
                  <c:v>1.5267175572519083E-2</c:v>
                </c:pt>
                <c:pt idx="29" formatCode="0.00%">
                  <c:v>2.2900763358778626E-2</c:v>
                </c:pt>
                <c:pt idx="30" formatCode="0.00%">
                  <c:v>3.0534351145038167E-2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427F-43BC-92DE-C117EFB07BB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000000"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4F6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57F4A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Facebook</c:v>
                </c:pt>
                <c:pt idx="1">
                  <c:v>Blogs</c:v>
                </c:pt>
                <c:pt idx="2">
                  <c:v>News</c:v>
                </c:pt>
                <c:pt idx="3">
                  <c:v>TikTok</c:v>
                </c:pt>
                <c:pt idx="4">
                  <c:v>X (Twitter)</c:v>
                </c:pt>
                <c:pt idx="5">
                  <c:v>Videos</c:v>
                </c:pt>
                <c:pt idx="6">
                  <c:v>Web</c:v>
                </c:pt>
                <c:pt idx="7">
                  <c:v>Other Socials</c:v>
                </c:pt>
                <c:pt idx="8">
                  <c:v>Podcasts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</c:v>
                </c:pt>
                <c:pt idx="1">
                  <c:v>0</c:v>
                </c:pt>
                <c:pt idx="2">
                  <c:v>4</c:v>
                </c:pt>
                <c:pt idx="3">
                  <c:v>2</c:v>
                </c:pt>
                <c:pt idx="4">
                  <c:v>3</c:v>
                </c:pt>
                <c:pt idx="5">
                  <c:v>8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04-4661-9ADF-FDE2BDD7A73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BB3540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Facebook</c:v>
                </c:pt>
                <c:pt idx="1">
                  <c:v>Blogs</c:v>
                </c:pt>
                <c:pt idx="2">
                  <c:v>News</c:v>
                </c:pt>
                <c:pt idx="3">
                  <c:v>TikTok</c:v>
                </c:pt>
                <c:pt idx="4">
                  <c:v>X (Twitter)</c:v>
                </c:pt>
                <c:pt idx="5">
                  <c:v>Videos</c:v>
                </c:pt>
                <c:pt idx="6">
                  <c:v>Web</c:v>
                </c:pt>
                <c:pt idx="7">
                  <c:v>Other Socials</c:v>
                </c:pt>
                <c:pt idx="8">
                  <c:v>Podcasts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16</c:v>
                </c:pt>
                <c:pt idx="1">
                  <c:v>4</c:v>
                </c:pt>
                <c:pt idx="2">
                  <c:v>47</c:v>
                </c:pt>
                <c:pt idx="3">
                  <c:v>4</c:v>
                </c:pt>
                <c:pt idx="4">
                  <c:v>28</c:v>
                </c:pt>
                <c:pt idx="5">
                  <c:v>23</c:v>
                </c:pt>
                <c:pt idx="6">
                  <c:v>6</c:v>
                </c:pt>
                <c:pt idx="7">
                  <c:v>3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A04-4661-9ADF-FDE2BDD7A73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rgbClr val="F4F4F4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Facebook</c:v>
                </c:pt>
                <c:pt idx="1">
                  <c:v>Blogs</c:v>
                </c:pt>
                <c:pt idx="2">
                  <c:v>News</c:v>
                </c:pt>
                <c:pt idx="3">
                  <c:v>TikTok</c:v>
                </c:pt>
                <c:pt idx="4">
                  <c:v>X (Twitter)</c:v>
                </c:pt>
                <c:pt idx="5">
                  <c:v>Videos</c:v>
                </c:pt>
                <c:pt idx="6">
                  <c:v>Web</c:v>
                </c:pt>
                <c:pt idx="7">
                  <c:v>Other Socials</c:v>
                </c:pt>
                <c:pt idx="8">
                  <c:v>Podcasts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17</c:v>
                </c:pt>
                <c:pt idx="1">
                  <c:v>3</c:v>
                </c:pt>
                <c:pt idx="2">
                  <c:v>84</c:v>
                </c:pt>
                <c:pt idx="3">
                  <c:v>2</c:v>
                </c:pt>
                <c:pt idx="4">
                  <c:v>30</c:v>
                </c:pt>
                <c:pt idx="5">
                  <c:v>24</c:v>
                </c:pt>
                <c:pt idx="6">
                  <c:v>3</c:v>
                </c:pt>
                <c:pt idx="7">
                  <c:v>1</c:v>
                </c:pt>
                <c:pt idx="8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A04-4661-9ADF-FDE2BDD7A7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4F6F8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71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B16-485E-8B36-AF0926F2A3B0}"/>
              </c:ext>
            </c:extLst>
          </c:dPt>
          <c:dPt>
            <c:idx val="1"/>
            <c:bubble3D val="0"/>
            <c:spPr>
              <a:solidFill>
                <a:srgbClr val="F7F7F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B16-485E-8B36-AF0926F2A3B0}"/>
              </c:ext>
            </c:extLst>
          </c:dPt>
          <c:cat>
            <c:strRef>
              <c:f>Sheet1!$A$2:$A$3</c:f>
              <c:strCache>
                <c:ptCount val="2"/>
                <c:pt idx="0">
                  <c:v>Score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</c:v>
                </c:pt>
                <c:pt idx="1">
                  <c:v>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B16-485E-8B36-AF0926F2A3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Your Presence Score</c:v>
                </c:pt>
              </c:strCache>
            </c:strRef>
          </c:tx>
          <c:spPr>
            <a:ln w="25400" cap="flat">
              <a:solidFill>
                <a:srgbClr val="2D85E5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2025-11-01 - 2025-11-01</c:v>
                </c:pt>
                <c:pt idx="1">
                  <c:v>2025-11-02 - 2025-11-08</c:v>
                </c:pt>
                <c:pt idx="2">
                  <c:v>2025-11-09 - 2025-11-15</c:v>
                </c:pt>
                <c:pt idx="3">
                  <c:v>2025-11-16 - 2025-11-22</c:v>
                </c:pt>
                <c:pt idx="4">
                  <c:v>2025-11-23 - 2025-11-29</c:v>
                </c:pt>
                <c:pt idx="5">
                  <c:v>2025-11-30 - 2025-12-06</c:v>
                </c:pt>
                <c:pt idx="6">
                  <c:v>2025-12-07 - 2025-12-13</c:v>
                </c:pt>
                <c:pt idx="7">
                  <c:v>2025-12-14 - 2025-12-20</c:v>
                </c:pt>
                <c:pt idx="8">
                  <c:v>2025-12-21 - 2025-12-27</c:v>
                </c:pt>
                <c:pt idx="9">
                  <c:v>2025-12-28 - 2025-12-31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3</c:v>
                </c:pt>
                <c:pt idx="7">
                  <c:v>16</c:v>
                </c:pt>
                <c:pt idx="8">
                  <c:v>27</c:v>
                </c:pt>
                <c:pt idx="9">
                  <c:v>28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C96-420E-8307-93DCACE91A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000000"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4F6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7812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idx="100" hasCustomPrompt="1"/>
          </p:nvPr>
        </p:nvSpPr>
        <p:spPr>
          <a:xfrm>
            <a:off x="1234440" y="2578608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>
              <a:buNone/>
            </a:pP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idx="101" hasCustomPrompt="1"/>
          </p:nvPr>
        </p:nvSpPr>
        <p:spPr>
          <a:xfrm>
            <a:off x="1234440" y="329184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>
              <a:buNone/>
            </a:pP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16736" y="4096512"/>
            <a:ext cx="274320" cy="274320"/>
          </a:xfrm>
          <a:prstGeom prst="rect">
            <a:avLst/>
          </a:prstGeom>
        </p:spPr>
      </p:pic>
      <p:sp>
        <p:nvSpPr>
          <p:cNvPr id="5" name="Text 0"/>
          <p:cNvSpPr>
            <a:spLocks noGrp="1"/>
          </p:cNvSpPr>
          <p:nvPr>
            <p:ph idx="103" hasCustomPrompt="1"/>
          </p:nvPr>
        </p:nvSpPr>
        <p:spPr>
          <a:xfrm>
            <a:off x="1618488" y="4123944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>
              <a:buNone/>
            </a:pP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 l="-30000" r="-30000"/>
          <a:stretch/>
        </p:blipFill>
        <p:spPr>
          <a:xfrm>
            <a:off x="1828800" y="0"/>
            <a:ext cx="12192000" cy="685800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97280" y="5760720"/>
            <a:ext cx="2304288" cy="6339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OfConten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idx="100" hasCustomPrompt="1"/>
          </p:nvPr>
        </p:nvSpPr>
        <p:spPr>
          <a:xfrm>
            <a:off x="946800" y="87840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>
              <a:buNone/>
            </a:pP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60800" y="6228000"/>
            <a:ext cx="1360800" cy="374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idx="100" hasCustomPrompt="1"/>
          </p:nvPr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>
              <a:buNone/>
            </a:pP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60800" y="6228000"/>
            <a:ext cx="1360800" cy="374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ish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idx="100" hasCustomPrompt="1"/>
          </p:nvPr>
        </p:nvSpPr>
        <p:spPr>
          <a:xfrm>
            <a:off x="1522800" y="2977200"/>
            <a:ext cx="9144000" cy="885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5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ctr">
              <a:buNone/>
            </a:pPr>
            <a:endParaRPr lang="en-US" sz="5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852800" y="0"/>
            <a:ext cx="6940800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87200" y="6033600"/>
            <a:ext cx="1360800" cy="3744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13" Type="http://schemas.openxmlformats.org/officeDocument/2006/relationships/slide" Target="slide13.xml"/><Relationship Id="rId3" Type="http://schemas.openxmlformats.org/officeDocument/2006/relationships/slide" Target="slide3.xml"/><Relationship Id="rId7" Type="http://schemas.openxmlformats.org/officeDocument/2006/relationships/slide" Target="slide7.xml"/><Relationship Id="rId12" Type="http://schemas.openxmlformats.org/officeDocument/2006/relationships/slide" Target="slide12.xml"/><Relationship Id="rId2" Type="http://schemas.openxmlformats.org/officeDocument/2006/relationships/notesSlide" Target="../notesSlides/notesSlide2.xml"/><Relationship Id="rId16" Type="http://schemas.openxmlformats.org/officeDocument/2006/relationships/slide" Target="slide16.xml"/><Relationship Id="rId1" Type="http://schemas.openxmlformats.org/officeDocument/2006/relationships/slideLayout" Target="../slideLayouts/slideLayout3.xml"/><Relationship Id="rId6" Type="http://schemas.openxmlformats.org/officeDocument/2006/relationships/slide" Target="slide6.xml"/><Relationship Id="rId11" Type="http://schemas.openxmlformats.org/officeDocument/2006/relationships/slide" Target="slide11.xml"/><Relationship Id="rId5" Type="http://schemas.openxmlformats.org/officeDocument/2006/relationships/slide" Target="slide5.xml"/><Relationship Id="rId15" Type="http://schemas.openxmlformats.org/officeDocument/2006/relationships/slide" Target="slide15.xml"/><Relationship Id="rId10" Type="http://schemas.openxmlformats.org/officeDocument/2006/relationships/slide" Target="slide10.xml"/><Relationship Id="rId4" Type="http://schemas.openxmlformats.org/officeDocument/2006/relationships/slide" Target="slide4.xml"/><Relationship Id="rId9" Type="http://schemas.openxmlformats.org/officeDocument/2006/relationships/slide" Target="slide9.xml"/><Relationship Id="rId14" Type="http://schemas.openxmlformats.org/officeDocument/2006/relationships/slide" Target="slide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app.brand24.com/result/open/?id=93129022087&amp;h=61eea9c64c4e18a5a96fba68cebf14d5028f2ec3&amp;source=panel" TargetMode="External"/><Relationship Id="rId3" Type="http://schemas.openxmlformats.org/officeDocument/2006/relationships/image" Target="../media/image5.png"/><Relationship Id="rId7" Type="http://schemas.openxmlformats.org/officeDocument/2006/relationships/hyperlink" Target="https://app.brand24.com/result/open/?id=93129021785&amp;h=f2a2f58981e44c5ae895b975e4b6a676d0439fab&amp;source=pane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hyperlink" Target="https://app.brand24.com/result/open/?id=93129021996&amp;h=9f7139fcbb5fc04f732fb85e24efa0ba1445800c&amp;source=panel" TargetMode="External"/><Relationship Id="rId9" Type="http://schemas.openxmlformats.org/officeDocument/2006/relationships/hyperlink" Target="https://app.brand24.com/result/open/?id=93129021964&amp;h=b20033a51036639f04bdd9d3e60a8dff5f7a169d&amp;source=panel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/result/open/?id=93129021930&amp;h=09d07d4289e58087bd65c925f1c213e32867f5e2&amp;source=panel" TargetMode="External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hyperlink" Target="/result/open/?id=93129022132&amp;h=b6077b11214549c144703bcf299999b8a8e6c902&amp;source=panel" TargetMode="External"/><Relationship Id="rId5" Type="http://schemas.openxmlformats.org/officeDocument/2006/relationships/image" Target="../media/image8.png"/><Relationship Id="rId10" Type="http://schemas.openxmlformats.org/officeDocument/2006/relationships/hyperlink" Target="/result/open/?id=93129022035&amp;h=2a4850c67f9144b87be42c6356460f013e48535e&amp;source=panel" TargetMode="External"/><Relationship Id="rId4" Type="http://schemas.openxmlformats.org/officeDocument/2006/relationships/hyperlink" Target="/result/open/?id=93129021996&amp;h=9f7139fcbb5fc04f732fb85e24efa0ba1445800c&amp;source=panel" TargetMode="External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x.com/tassingremi/status/2003742262111633548/photo/1" TargetMode="External"/><Relationship Id="rId3" Type="http://schemas.openxmlformats.org/officeDocument/2006/relationships/hyperlink" Target="https://t.me/+nccppyrasbbmmzm8" TargetMode="External"/><Relationship Id="rId7" Type="http://schemas.openxmlformats.org/officeDocument/2006/relationships/hyperlink" Target="https://www.rfi.fr/fr/podcasts/invit&#233;-afrique-midi/20241225-une-nouvelle-candidature-du-pr&#233;sident-biya-en-2025-n-est-pas-r&#233;aliste-selon-l-archev&#234;que-de-douala%22%3eune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x.com/gaetanld56/status/2002141508838043766" TargetMode="External"/><Relationship Id="rId5" Type="http://schemas.openxmlformats.org/officeDocument/2006/relationships/hyperlink" Target="https://x.com/senateforeign/status/1998895959309250605" TargetMode="External"/><Relationship Id="rId10" Type="http://schemas.openxmlformats.org/officeDocument/2006/relationships/hyperlink" Target="https://www.facebook.com/profile.php?id=100094104999377" TargetMode="External"/><Relationship Id="rId4" Type="http://schemas.openxmlformats.org/officeDocument/2006/relationships/hyperlink" Target="https://www.cl2p.org" TargetMode="External"/><Relationship Id="rId9" Type="http://schemas.openxmlformats.org/officeDocument/2006/relationships/hyperlink" Target="https://x.com/mg_kengne/status/2001191243724857508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4440" y="2578608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8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Anicet Ekane - Analysis</a:t>
            </a:r>
            <a:endParaRPr lang="en-US" sz="4800" dirty="0"/>
          </a:p>
        </p:txBody>
      </p:sp>
      <p:sp>
        <p:nvSpPr>
          <p:cNvPr id="3" name="Text 0"/>
          <p:cNvSpPr/>
          <p:nvPr/>
        </p:nvSpPr>
        <p:spPr>
          <a:xfrm>
            <a:off x="1618488" y="4123944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2025-11-01 - 2025-12-31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-722376" y="-1837944"/>
            <a:ext cx="3904488" cy="3904488"/>
          </a:xfrm>
          <a:prstGeom prst="ellipse">
            <a:avLst/>
          </a:prstGeom>
          <a:noFill/>
          <a:ln w="444500">
            <a:solidFill>
              <a:srgbClr val="057F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457200"/>
            <a:ext cx="1078992" cy="1078992"/>
          </a:xfrm>
          <a:prstGeom prst="ellipse">
            <a:avLst/>
          </a:prstGeom>
          <a:solidFill>
            <a:srgbClr val="636363"/>
          </a:solidFill>
          <a:ln w="12700">
            <a:solidFill>
              <a:srgbClr val="6363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0" y="5486400"/>
            <a:ext cx="548640" cy="548640"/>
          </a:xfrm>
          <a:prstGeom prst="ellipse">
            <a:avLst/>
          </a:prstGeom>
          <a:solidFill>
            <a:srgbClr val="057F4A"/>
          </a:solidFill>
          <a:ln w="12700">
            <a:solidFill>
              <a:srgbClr val="057F4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6800" y="878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dirty="0">
                <a:latin typeface="Arial" pitchFamily="34" charset="0"/>
                <a:ea typeface="Arial" pitchFamily="34" charset="-122"/>
                <a:cs typeface="Arial" pitchFamily="34" charset="-120"/>
              </a:rPr>
              <a:t>Table of Contents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 rot="16200000">
            <a:off x="698400" y="6300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4800" y="-2523600"/>
            <a:ext cx="3906000" cy="3906000"/>
          </a:xfrm>
          <a:prstGeom prst="ellipse">
            <a:avLst/>
          </a:prstGeom>
          <a:noFill/>
          <a:ln w="444500">
            <a:solidFill>
              <a:srgbClr val="057F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8800" y="8683200"/>
            <a:ext cx="597600" cy="597600"/>
          </a:xfrm>
          <a:prstGeom prst="ellipse">
            <a:avLst/>
          </a:prstGeom>
          <a:solidFill>
            <a:srgbClr val="C2C6CF"/>
          </a:solidFill>
          <a:ln/>
        </p:spPr>
      </p:sp>
      <p:sp>
        <p:nvSpPr>
          <p:cNvPr id="6" name="Text 4">
            <a:hlinkClick r:id="rId3" action="ppaction://hlinksldjump"/>
          </p:cNvPr>
          <p:cNvSpPr/>
          <p:nvPr/>
        </p:nvSpPr>
        <p:spPr>
          <a:xfrm>
            <a:off x="986400" y="1684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</a:t>
            </a:r>
            <a:endParaRPr lang="en-US" sz="2000" dirty="0"/>
          </a:p>
        </p:txBody>
      </p:sp>
      <p:sp>
        <p:nvSpPr>
          <p:cNvPr id="7" name="Text 5">
            <a:hlinkClick r:id="rId3" action="ppaction://hlinksldjump"/>
          </p:cNvPr>
          <p:cNvSpPr/>
          <p:nvPr/>
        </p:nvSpPr>
        <p:spPr>
          <a:xfrm>
            <a:off x="1584000" y="1684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Overview</a:t>
            </a:r>
            <a:endParaRPr lang="en-US" sz="2000" dirty="0"/>
          </a:p>
        </p:txBody>
      </p:sp>
      <p:sp>
        <p:nvSpPr>
          <p:cNvPr id="8" name="Text 6">
            <a:hlinkClick r:id="rId4" action="ppaction://hlinksldjump"/>
          </p:cNvPr>
          <p:cNvSpPr/>
          <p:nvPr/>
        </p:nvSpPr>
        <p:spPr>
          <a:xfrm>
            <a:off x="986400" y="2379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</a:t>
            </a:r>
            <a:endParaRPr lang="en-US" sz="2000" dirty="0"/>
          </a:p>
        </p:txBody>
      </p:sp>
      <p:sp>
        <p:nvSpPr>
          <p:cNvPr id="9" name="Text 7">
            <a:hlinkClick r:id="rId4" action="ppaction://hlinksldjump"/>
          </p:cNvPr>
          <p:cNvSpPr/>
          <p:nvPr/>
        </p:nvSpPr>
        <p:spPr>
          <a:xfrm>
            <a:off x="1584000" y="2379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most popular mentions</a:t>
            </a:r>
            <a:endParaRPr lang="en-US" sz="2000" dirty="0"/>
          </a:p>
        </p:txBody>
      </p:sp>
      <p:sp>
        <p:nvSpPr>
          <p:cNvPr id="10" name="Text 8">
            <a:hlinkClick r:id="rId5" action="ppaction://hlinksldjump"/>
          </p:cNvPr>
          <p:cNvSpPr/>
          <p:nvPr/>
        </p:nvSpPr>
        <p:spPr>
          <a:xfrm>
            <a:off x="986400" y="307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05</a:t>
            </a:r>
            <a:endParaRPr lang="en-US" sz="2000" dirty="0"/>
          </a:p>
        </p:txBody>
      </p:sp>
      <p:sp>
        <p:nvSpPr>
          <p:cNvPr id="11" name="Text 9">
            <a:hlinkClick r:id="rId5" action="ppaction://hlinksldjump"/>
          </p:cNvPr>
          <p:cNvSpPr/>
          <p:nvPr/>
        </p:nvSpPr>
        <p:spPr>
          <a:xfrm>
            <a:off x="1584000" y="307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Mentions from top public profil...</a:t>
            </a:r>
            <a:endParaRPr lang="en-US" sz="2000" dirty="0"/>
          </a:p>
        </p:txBody>
      </p:sp>
      <p:sp>
        <p:nvSpPr>
          <p:cNvPr id="12" name="Text 10">
            <a:hlinkClick r:id="rId6" action="ppaction://hlinksldjump"/>
          </p:cNvPr>
          <p:cNvSpPr/>
          <p:nvPr/>
        </p:nvSpPr>
        <p:spPr>
          <a:xfrm>
            <a:off x="986400" y="3769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06</a:t>
            </a:r>
            <a:endParaRPr lang="en-US" sz="2000" dirty="0"/>
          </a:p>
        </p:txBody>
      </p:sp>
      <p:sp>
        <p:nvSpPr>
          <p:cNvPr id="13" name="Text 11">
            <a:hlinkClick r:id="rId6" action="ppaction://hlinksldjump"/>
          </p:cNvPr>
          <p:cNvSpPr/>
          <p:nvPr/>
        </p:nvSpPr>
        <p:spPr>
          <a:xfrm>
            <a:off x="1584000" y="3769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Mentions</a:t>
            </a:r>
            <a:endParaRPr lang="en-US" sz="2000" dirty="0"/>
          </a:p>
        </p:txBody>
      </p:sp>
      <p:sp>
        <p:nvSpPr>
          <p:cNvPr id="14" name="Text 12">
            <a:hlinkClick r:id="rId7" action="ppaction://hlinksldjump"/>
          </p:cNvPr>
          <p:cNvSpPr/>
          <p:nvPr/>
        </p:nvSpPr>
        <p:spPr>
          <a:xfrm>
            <a:off x="986400" y="4464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07</a:t>
            </a:r>
            <a:endParaRPr lang="en-US" sz="2000" dirty="0"/>
          </a:p>
        </p:txBody>
      </p:sp>
      <p:sp>
        <p:nvSpPr>
          <p:cNvPr id="15" name="Text 13">
            <a:hlinkClick r:id="rId7" action="ppaction://hlinksldjump"/>
          </p:cNvPr>
          <p:cNvSpPr/>
          <p:nvPr/>
        </p:nvSpPr>
        <p:spPr>
          <a:xfrm>
            <a:off x="1584000" y="4464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Reach</a:t>
            </a:r>
            <a:endParaRPr lang="en-US" sz="2000" dirty="0"/>
          </a:p>
        </p:txBody>
      </p:sp>
      <p:sp>
        <p:nvSpPr>
          <p:cNvPr id="16" name="Text 14">
            <a:hlinkClick r:id="rId8" action="ppaction://hlinksldjump"/>
          </p:cNvPr>
          <p:cNvSpPr/>
          <p:nvPr/>
        </p:nvSpPr>
        <p:spPr>
          <a:xfrm>
            <a:off x="986400" y="515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08</a:t>
            </a:r>
            <a:endParaRPr lang="en-US" sz="2000" dirty="0"/>
          </a:p>
        </p:txBody>
      </p:sp>
      <p:sp>
        <p:nvSpPr>
          <p:cNvPr id="17" name="Text 15">
            <a:hlinkClick r:id="rId8" action="ppaction://hlinksldjump"/>
          </p:cNvPr>
          <p:cNvSpPr/>
          <p:nvPr/>
        </p:nvSpPr>
        <p:spPr>
          <a:xfrm>
            <a:off x="1584000" y="515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Mentions by category</a:t>
            </a:r>
            <a:endParaRPr lang="en-US" sz="2000" dirty="0"/>
          </a:p>
        </p:txBody>
      </p:sp>
      <p:sp>
        <p:nvSpPr>
          <p:cNvPr id="18" name="Text 16">
            <a:hlinkClick r:id="rId9" action="ppaction://hlinksldjump"/>
          </p:cNvPr>
          <p:cNvSpPr/>
          <p:nvPr/>
        </p:nvSpPr>
        <p:spPr>
          <a:xfrm>
            <a:off x="986400" y="5853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09</a:t>
            </a:r>
            <a:endParaRPr lang="en-US" sz="2000" dirty="0"/>
          </a:p>
        </p:txBody>
      </p:sp>
      <p:sp>
        <p:nvSpPr>
          <p:cNvPr id="19" name="Text 17">
            <a:hlinkClick r:id="rId9" action="ppaction://hlinksldjump"/>
          </p:cNvPr>
          <p:cNvSpPr/>
          <p:nvPr/>
        </p:nvSpPr>
        <p:spPr>
          <a:xfrm>
            <a:off x="1584000" y="5853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Sentiment</a:t>
            </a:r>
            <a:endParaRPr lang="en-US" sz="2000" dirty="0"/>
          </a:p>
        </p:txBody>
      </p:sp>
      <p:sp>
        <p:nvSpPr>
          <p:cNvPr id="20" name="Text 18">
            <a:hlinkClick r:id="rId10" action="ppaction://hlinksldjump"/>
          </p:cNvPr>
          <p:cNvSpPr/>
          <p:nvPr/>
        </p:nvSpPr>
        <p:spPr>
          <a:xfrm>
            <a:off x="6004800" y="1684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</a:t>
            </a:r>
            <a:endParaRPr lang="en-US" sz="2000" dirty="0"/>
          </a:p>
        </p:txBody>
      </p:sp>
      <p:sp>
        <p:nvSpPr>
          <p:cNvPr id="21" name="Text 19">
            <a:hlinkClick r:id="rId10" action="ppaction://hlinksldjump"/>
          </p:cNvPr>
          <p:cNvSpPr/>
          <p:nvPr/>
        </p:nvSpPr>
        <p:spPr>
          <a:xfrm>
            <a:off x="6602400" y="1684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Sentiment by categories</a:t>
            </a:r>
            <a:endParaRPr lang="en-US" sz="2000" dirty="0"/>
          </a:p>
        </p:txBody>
      </p:sp>
      <p:sp>
        <p:nvSpPr>
          <p:cNvPr id="22" name="Text 20">
            <a:hlinkClick r:id="rId11" action="ppaction://hlinksldjump"/>
          </p:cNvPr>
          <p:cNvSpPr/>
          <p:nvPr/>
        </p:nvSpPr>
        <p:spPr>
          <a:xfrm>
            <a:off x="6004800" y="2379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11</a:t>
            </a:r>
            <a:endParaRPr lang="en-US" sz="2000" dirty="0"/>
          </a:p>
        </p:txBody>
      </p:sp>
      <p:sp>
        <p:nvSpPr>
          <p:cNvPr id="23" name="Text 21">
            <a:hlinkClick r:id="rId11" action="ppaction://hlinksldjump"/>
          </p:cNvPr>
          <p:cNvSpPr/>
          <p:nvPr/>
        </p:nvSpPr>
        <p:spPr>
          <a:xfrm>
            <a:off x="6602400" y="2379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Influencers: most share of voic...</a:t>
            </a:r>
            <a:endParaRPr lang="en-US" sz="2000" dirty="0"/>
          </a:p>
        </p:txBody>
      </p:sp>
      <p:sp>
        <p:nvSpPr>
          <p:cNvPr id="24" name="Text 22">
            <a:hlinkClick r:id="rId12" action="ppaction://hlinksldjump"/>
          </p:cNvPr>
          <p:cNvSpPr/>
          <p:nvPr/>
        </p:nvSpPr>
        <p:spPr>
          <a:xfrm>
            <a:off x="6004800" y="307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12</a:t>
            </a:r>
            <a:endParaRPr lang="en-US" sz="2000" dirty="0"/>
          </a:p>
        </p:txBody>
      </p:sp>
      <p:sp>
        <p:nvSpPr>
          <p:cNvPr id="25" name="Text 23">
            <a:hlinkClick r:id="rId12" action="ppaction://hlinksldjump"/>
          </p:cNvPr>
          <p:cNvSpPr/>
          <p:nvPr/>
        </p:nvSpPr>
        <p:spPr>
          <a:xfrm>
            <a:off x="6602400" y="307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Influencers: most followers</a:t>
            </a:r>
            <a:endParaRPr lang="en-US" sz="2000" dirty="0"/>
          </a:p>
        </p:txBody>
      </p:sp>
      <p:sp>
        <p:nvSpPr>
          <p:cNvPr id="26" name="Text 24">
            <a:hlinkClick r:id="rId13" action="ppaction://hlinksldjump"/>
          </p:cNvPr>
          <p:cNvSpPr/>
          <p:nvPr/>
        </p:nvSpPr>
        <p:spPr>
          <a:xfrm>
            <a:off x="6004800" y="3769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13</a:t>
            </a:r>
            <a:endParaRPr lang="en-US" sz="2000" dirty="0"/>
          </a:p>
        </p:txBody>
      </p:sp>
      <p:sp>
        <p:nvSpPr>
          <p:cNvPr id="27" name="Text 25">
            <a:hlinkClick r:id="rId13" action="ppaction://hlinksldjump"/>
          </p:cNvPr>
          <p:cNvSpPr/>
          <p:nvPr/>
        </p:nvSpPr>
        <p:spPr>
          <a:xfrm>
            <a:off x="6602400" y="3769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Trending Hashtags and Links</a:t>
            </a:r>
            <a:endParaRPr lang="en-US" sz="2000" dirty="0"/>
          </a:p>
        </p:txBody>
      </p:sp>
      <p:sp>
        <p:nvSpPr>
          <p:cNvPr id="28" name="Text 26">
            <a:hlinkClick r:id="rId14" action="ppaction://hlinksldjump"/>
          </p:cNvPr>
          <p:cNvSpPr/>
          <p:nvPr/>
        </p:nvSpPr>
        <p:spPr>
          <a:xfrm>
            <a:off x="6004800" y="4464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14</a:t>
            </a:r>
            <a:endParaRPr lang="en-US" sz="2000" dirty="0"/>
          </a:p>
        </p:txBody>
      </p:sp>
      <p:sp>
        <p:nvSpPr>
          <p:cNvPr id="29" name="Text 27">
            <a:hlinkClick r:id="rId14" action="ppaction://hlinksldjump"/>
          </p:cNvPr>
          <p:cNvSpPr/>
          <p:nvPr/>
        </p:nvSpPr>
        <p:spPr>
          <a:xfrm>
            <a:off x="6602400" y="4464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Most active sites</a:t>
            </a:r>
            <a:endParaRPr lang="en-US" sz="2000" dirty="0"/>
          </a:p>
        </p:txBody>
      </p:sp>
      <p:sp>
        <p:nvSpPr>
          <p:cNvPr id="30" name="Text 28">
            <a:hlinkClick r:id="rId15" action="ppaction://hlinksldjump"/>
          </p:cNvPr>
          <p:cNvSpPr/>
          <p:nvPr/>
        </p:nvSpPr>
        <p:spPr>
          <a:xfrm>
            <a:off x="6004800" y="515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15</a:t>
            </a:r>
            <a:endParaRPr lang="en-US" sz="2000" dirty="0"/>
          </a:p>
        </p:txBody>
      </p:sp>
      <p:sp>
        <p:nvSpPr>
          <p:cNvPr id="31" name="Text 29">
            <a:hlinkClick r:id="rId15" action="ppaction://hlinksldjump"/>
          </p:cNvPr>
          <p:cNvSpPr/>
          <p:nvPr/>
        </p:nvSpPr>
        <p:spPr>
          <a:xfrm>
            <a:off x="6602400" y="515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Current Presence Score</a:t>
            </a:r>
            <a:endParaRPr lang="en-US" sz="2000" dirty="0"/>
          </a:p>
        </p:txBody>
      </p:sp>
      <p:sp>
        <p:nvSpPr>
          <p:cNvPr id="32" name="Text 30">
            <a:hlinkClick r:id="rId16" action="ppaction://hlinksldjump"/>
          </p:cNvPr>
          <p:cNvSpPr/>
          <p:nvPr/>
        </p:nvSpPr>
        <p:spPr>
          <a:xfrm>
            <a:off x="6004800" y="5853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16</a:t>
            </a:r>
            <a:endParaRPr lang="en-US" sz="2000" dirty="0"/>
          </a:p>
        </p:txBody>
      </p:sp>
      <p:sp>
        <p:nvSpPr>
          <p:cNvPr id="33" name="Text 31">
            <a:hlinkClick r:id="rId16" action="ppaction://hlinksldjump"/>
          </p:cNvPr>
          <p:cNvSpPr/>
          <p:nvPr/>
        </p:nvSpPr>
        <p:spPr>
          <a:xfrm>
            <a:off x="6602400" y="5853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most popular emojis ...</a:t>
            </a:r>
            <a:endParaRPr lang="en-US" sz="20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dirty="0"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0000" y="1620000"/>
            <a:ext cx="2088000" cy="1152000"/>
          </a:xfrm>
          <a:prstGeom prst="roundRect">
            <a:avLst>
              <a:gd name="adj" fmla="val 9525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blurRad="1016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4000" y="1728000"/>
            <a:ext cx="180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</a:rPr>
              <a:t>Total mentions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4000" y="2268000"/>
            <a:ext cx="12528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</a:rPr>
              <a:t>318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4000" y="2304000"/>
            <a:ext cx="18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0000"/>
                </a:solidFill>
              </a:rPr>
              <a:t>0%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44000" y="1620000"/>
            <a:ext cx="2088000" cy="1152000"/>
          </a:xfrm>
          <a:prstGeom prst="roundRect">
            <a:avLst>
              <a:gd name="adj" fmla="val 9525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blurRad="1016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88000" y="1728000"/>
            <a:ext cx="180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</a:rPr>
              <a:t>Total reach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88000" y="2268000"/>
            <a:ext cx="12528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</a:rPr>
              <a:t>5.4M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988000" y="2304000"/>
            <a:ext cx="18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0000"/>
                </a:solidFill>
              </a:rPr>
              <a:t>0%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48000" y="1620000"/>
            <a:ext cx="2088000" cy="1152000"/>
          </a:xfrm>
          <a:prstGeom prst="roundRect">
            <a:avLst>
              <a:gd name="adj" fmla="val 9525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blurRad="1016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92000" y="1728000"/>
            <a:ext cx="180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</a:rPr>
              <a:t>Positive mentions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92000" y="2268000"/>
            <a:ext cx="12528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</a:rPr>
              <a:t>20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292000" y="2304000"/>
            <a:ext cx="18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0000"/>
                </a:solidFill>
              </a:rPr>
              <a:t>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52000" y="1620000"/>
            <a:ext cx="2088000" cy="1152000"/>
          </a:xfrm>
          <a:prstGeom prst="roundRect">
            <a:avLst>
              <a:gd name="adj" fmla="val 9525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blurRad="1016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96000" y="1728000"/>
            <a:ext cx="180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</a:rPr>
              <a:t>Negative mentions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596000" y="2268000"/>
            <a:ext cx="12528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</a:rPr>
              <a:t>131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596000" y="2304000"/>
            <a:ext cx="18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B050"/>
                </a:solidFill>
              </a:rPr>
              <a:t>0%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756000" y="1620000"/>
            <a:ext cx="2088000" cy="1152000"/>
          </a:xfrm>
          <a:prstGeom prst="roundRect">
            <a:avLst>
              <a:gd name="adj" fmla="val 9525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blurRad="1016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900000" y="1728000"/>
            <a:ext cx="180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</a:rPr>
              <a:t>Average Presence Score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900000" y="2268000"/>
            <a:ext cx="12528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</a:rPr>
              <a:t>7/100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900000" y="2304000"/>
            <a:ext cx="18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B050"/>
                </a:solidFill>
              </a:rPr>
              <a:t>+600%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0000" y="2988000"/>
            <a:ext cx="2088000" cy="1152000"/>
          </a:xfrm>
          <a:prstGeom prst="roundRect">
            <a:avLst>
              <a:gd name="adj" fmla="val 9525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blurRad="1016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4000" y="3096000"/>
            <a:ext cx="180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</a:rPr>
              <a:t>AVE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4000" y="3636000"/>
            <a:ext cx="12528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</a:rPr>
              <a:t>$162K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84000" y="3672000"/>
            <a:ext cx="18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0000"/>
                </a:solidFill>
              </a:rPr>
              <a:t>0%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844000" y="2988000"/>
            <a:ext cx="2088000" cy="1152000"/>
          </a:xfrm>
          <a:prstGeom prst="roundRect">
            <a:avLst>
              <a:gd name="adj" fmla="val 9525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blurRad="1016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988000" y="3096000"/>
            <a:ext cx="180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</a:rPr>
              <a:t>Social media reach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988000" y="3636000"/>
            <a:ext cx="12528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</a:rPr>
              <a:t>4.8M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2988000" y="3672000"/>
            <a:ext cx="18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0000"/>
                </a:solidFill>
              </a:rPr>
              <a:t>0%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148000" y="2988000"/>
            <a:ext cx="2088000" cy="1152000"/>
          </a:xfrm>
          <a:prstGeom prst="roundRect">
            <a:avLst>
              <a:gd name="adj" fmla="val 9525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blurRad="1016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292000" y="3096000"/>
            <a:ext cx="180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</a:rPr>
              <a:t>Non-Social media reach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92000" y="3636000"/>
            <a:ext cx="12528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</a:rPr>
              <a:t>529K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5292000" y="3672000"/>
            <a:ext cx="18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0000"/>
                </a:solidFill>
              </a:rPr>
              <a:t>0%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452000" y="2988000"/>
            <a:ext cx="2088000" cy="1152000"/>
          </a:xfrm>
          <a:prstGeom prst="roundRect">
            <a:avLst>
              <a:gd name="adj" fmla="val 9525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blurRad="1016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596000" y="3096000"/>
            <a:ext cx="180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</a:rPr>
              <a:t>User generated content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596000" y="3636000"/>
            <a:ext cx="12528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</a:rPr>
              <a:t>174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7596000" y="3672000"/>
            <a:ext cx="18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0000"/>
                </a:solidFill>
              </a:rPr>
              <a:t>0%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756000" y="2988000"/>
            <a:ext cx="2088000" cy="1152000"/>
          </a:xfrm>
          <a:prstGeom prst="roundRect">
            <a:avLst>
              <a:gd name="adj" fmla="val 9525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blurRad="1016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900000" y="3096000"/>
            <a:ext cx="180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</a:rPr>
              <a:t>Social media mentions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900000" y="3636000"/>
            <a:ext cx="12528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</a:rPr>
              <a:t>164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9900000" y="3672000"/>
            <a:ext cx="18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0000"/>
                </a:solidFill>
              </a:rPr>
              <a:t>0%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0000" y="4356000"/>
            <a:ext cx="2088000" cy="1152000"/>
          </a:xfrm>
          <a:prstGeom prst="roundRect">
            <a:avLst>
              <a:gd name="adj" fmla="val 9525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blurRad="1016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84000" y="4464000"/>
            <a:ext cx="180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</a:rPr>
              <a:t>Non-Social media mentions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84000" y="5004000"/>
            <a:ext cx="12528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</a:rPr>
              <a:t>154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684000" y="5040000"/>
            <a:ext cx="18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0000"/>
                </a:solidFill>
              </a:rPr>
              <a:t>0%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844000" y="4356000"/>
            <a:ext cx="2088000" cy="1152000"/>
          </a:xfrm>
          <a:prstGeom prst="roundRect">
            <a:avLst>
              <a:gd name="adj" fmla="val 9525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blurRad="1016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2988000" y="4464000"/>
            <a:ext cx="180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</a:rPr>
              <a:t>Social media reactions (e.g. likes)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988000" y="5004000"/>
            <a:ext cx="12528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</a:rPr>
              <a:t>47K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2988000" y="5040000"/>
            <a:ext cx="18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0000"/>
                </a:solidFill>
              </a:rPr>
              <a:t>0%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148000" y="4356000"/>
            <a:ext cx="2088000" cy="1152000"/>
          </a:xfrm>
          <a:prstGeom prst="roundRect">
            <a:avLst>
              <a:gd name="adj" fmla="val 9525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blurRad="1016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292000" y="4464000"/>
            <a:ext cx="180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</a:rPr>
              <a:t>Social media comments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292000" y="5004000"/>
            <a:ext cx="12528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</a:rPr>
              <a:t>793</a:t>
            </a:r>
            <a:endParaRPr lang="en-US" sz="2400" dirty="0"/>
          </a:p>
        </p:txBody>
      </p:sp>
      <p:sp>
        <p:nvSpPr>
          <p:cNvPr id="55" name="Text 53"/>
          <p:cNvSpPr/>
          <p:nvPr/>
        </p:nvSpPr>
        <p:spPr>
          <a:xfrm>
            <a:off x="5292000" y="5040000"/>
            <a:ext cx="18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0000"/>
                </a:solidFill>
              </a:rPr>
              <a:t>0%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452000" y="4356000"/>
            <a:ext cx="2088000" cy="1152000"/>
          </a:xfrm>
          <a:prstGeom prst="roundRect">
            <a:avLst>
              <a:gd name="adj" fmla="val 9525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blurRad="1016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7596000" y="4464000"/>
            <a:ext cx="180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</a:rPr>
              <a:t>Social media shares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596000" y="5004000"/>
            <a:ext cx="12528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</a:rPr>
              <a:t>3 960</a:t>
            </a:r>
            <a:endParaRPr lang="en-US" sz="2400" dirty="0"/>
          </a:p>
        </p:txBody>
      </p:sp>
      <p:sp>
        <p:nvSpPr>
          <p:cNvPr id="59" name="Text 57"/>
          <p:cNvSpPr/>
          <p:nvPr/>
        </p:nvSpPr>
        <p:spPr>
          <a:xfrm>
            <a:off x="7596000" y="5040000"/>
            <a:ext cx="18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0000"/>
                </a:solidFill>
              </a:rPr>
              <a:t>0%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9756000" y="4356000"/>
            <a:ext cx="2088000" cy="1152000"/>
          </a:xfrm>
          <a:prstGeom prst="roundRect">
            <a:avLst>
              <a:gd name="adj" fmla="val 9525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blurRad="1016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9900000" y="4464000"/>
            <a:ext cx="180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</a:rPr>
              <a:t>Total social media interactions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9900000" y="5004000"/>
            <a:ext cx="12528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</a:rPr>
              <a:t>52K</a:t>
            </a:r>
            <a:endParaRPr lang="en-US" sz="2400" dirty="0"/>
          </a:p>
        </p:txBody>
      </p:sp>
      <p:sp>
        <p:nvSpPr>
          <p:cNvPr id="63" name="Text 61"/>
          <p:cNvSpPr/>
          <p:nvPr/>
        </p:nvSpPr>
        <p:spPr>
          <a:xfrm>
            <a:off x="9900000" y="5040000"/>
            <a:ext cx="18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0000"/>
                </a:solidFill>
              </a:rPr>
              <a:t>0%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40000" y="5940000"/>
            <a:ext cx="11112120" cy="14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66666"/>
                </a:solidFill>
              </a:rPr>
              <a:t>% Change: Percentage compared to the previous data range</a:t>
            </a:r>
            <a:endParaRPr lang="en-US" sz="800" dirty="0"/>
          </a:p>
        </p:txBody>
      </p:sp>
      <p:sp>
        <p:nvSpPr>
          <p:cNvPr id="6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dirty="0">
                <a:latin typeface="Arial" pitchFamily="34" charset="0"/>
                <a:ea typeface="Arial" pitchFamily="34" charset="-122"/>
                <a:cs typeface="Arial" pitchFamily="34" charset="-120"/>
              </a:rPr>
              <a:t>The most popular mentions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58000" y="2026800"/>
            <a:ext cx="5353200" cy="1422000"/>
          </a:xfrm>
          <a:prstGeom prst="round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558000" y="2026800"/>
            <a:ext cx="5353200" cy="1422000"/>
          </a:xfrm>
          <a:prstGeom prst="roundRect">
            <a:avLst>
              <a:gd name="adj" fmla="val 7716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blurRad="1016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658400" y="2210400"/>
            <a:ext cx="1000800" cy="334800"/>
          </a:xfrm>
          <a:prstGeom prst="roundRect">
            <a:avLst>
              <a:gd name="adj" fmla="val 136559"/>
            </a:avLst>
          </a:prstGeom>
          <a:solidFill>
            <a:srgbClr val="FFE0E0"/>
          </a:solidFill>
          <a:ln/>
        </p:spPr>
      </p:sp>
      <p:sp>
        <p:nvSpPr>
          <p:cNvPr id="7" name="Text 5"/>
          <p:cNvSpPr/>
          <p:nvPr/>
        </p:nvSpPr>
        <p:spPr>
          <a:xfrm>
            <a:off x="4658400" y="2210400"/>
            <a:ext cx="1000800" cy="33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B3540"/>
                </a:solidFill>
              </a:rPr>
              <a:t>Negative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00" y="2206800"/>
            <a:ext cx="507600" cy="507600"/>
          </a:xfrm>
          <a:prstGeom prst="ellipse">
            <a:avLst/>
          </a:prstGeom>
        </p:spPr>
      </p:pic>
      <p:sp>
        <p:nvSpPr>
          <p:cNvPr id="9" name="Text 6">
            <a:hlinkClick r:id="rId4"/>
          </p:cNvPr>
          <p:cNvSpPr/>
          <p:nvPr/>
        </p:nvSpPr>
        <p:spPr>
          <a:xfrm>
            <a:off x="1346400" y="2196000"/>
            <a:ext cx="3315600" cy="39960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marL="0" indent="0">
              <a:buNone/>
            </a:pPr>
            <a:r>
              <a:rPr lang="en-US" sz="1600" b="1" u="sng" dirty="0">
                <a:solidFill>
                  <a:srgbClr val="1E2534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Nzui Manto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46400" y="2563200"/>
            <a:ext cx="9144000" cy="22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4C0"/>
                </a:solidFill>
              </a:rPr>
              <a:t>facebook.com • 1.1 M followers • 2025-12-25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0400" y="2822400"/>
            <a:ext cx="4978800" cy="50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534"/>
                </a:solidFill>
              </a:rPr>
              <a:t>Lien Télégram https://t.me/NZUIMANTO1/30685 40- ... [...] Lien Telegram: http...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58000" y="3772800"/>
            <a:ext cx="5353200" cy="1422000"/>
          </a:xfrm>
          <a:prstGeom prst="roundRect">
            <a:avLst/>
          </a:prstGeom>
          <a:noFill/>
          <a:ln/>
        </p:spPr>
      </p:sp>
      <p:sp>
        <p:nvSpPr>
          <p:cNvPr id="13" name="Shape 10"/>
          <p:cNvSpPr/>
          <p:nvPr/>
        </p:nvSpPr>
        <p:spPr>
          <a:xfrm>
            <a:off x="558000" y="3772800"/>
            <a:ext cx="5353200" cy="1422000"/>
          </a:xfrm>
          <a:prstGeom prst="roundRect">
            <a:avLst>
              <a:gd name="adj" fmla="val 7716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blurRad="1016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58400" y="3956400"/>
            <a:ext cx="1000800" cy="334800"/>
          </a:xfrm>
          <a:prstGeom prst="roundRect">
            <a:avLst>
              <a:gd name="adj" fmla="val 136559"/>
            </a:avLst>
          </a:prstGeom>
          <a:solidFill>
            <a:srgbClr val="F7F7F9"/>
          </a:solidFill>
          <a:ln/>
        </p:spPr>
      </p:sp>
      <p:sp>
        <p:nvSpPr>
          <p:cNvPr id="15" name="Text 12"/>
          <p:cNvSpPr/>
          <p:nvPr/>
        </p:nvSpPr>
        <p:spPr>
          <a:xfrm>
            <a:off x="4658400" y="3956400"/>
            <a:ext cx="1000800" cy="33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AB4C0"/>
                </a:solidFill>
              </a:rPr>
              <a:t>Neutral</a:t>
            </a:r>
            <a:endParaRPr lang="en-US" sz="12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8000" y="3952800"/>
            <a:ext cx="507600" cy="507600"/>
          </a:xfrm>
          <a:prstGeom prst="ellipse">
            <a:avLst/>
          </a:prstGeom>
        </p:spPr>
      </p:pic>
      <p:sp>
        <p:nvSpPr>
          <p:cNvPr id="17" name="Text 13">
            <a:hlinkClick r:id="rId7"/>
          </p:cNvPr>
          <p:cNvSpPr/>
          <p:nvPr/>
        </p:nvSpPr>
        <p:spPr>
          <a:xfrm>
            <a:off x="1346400" y="3942000"/>
            <a:ext cx="3315600" cy="39960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marL="0" indent="0">
              <a:buNone/>
            </a:pPr>
            <a:r>
              <a:rPr lang="en-US" sz="1600" b="1" u="sng" dirty="0">
                <a:solidFill>
                  <a:srgbClr val="1E2534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Protestas en Camerún de 2025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346400" y="4309200"/>
            <a:ext cx="9144000" cy="22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4C0"/>
                </a:solidFill>
              </a:rPr>
              <a:t>es.wikipedia.org • 2025-12-24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80400" y="4568400"/>
            <a:ext cx="4978800" cy="50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534"/>
                </a:solidFill>
              </a:rPr>
              <a:t>De Wikipedia, la enciclopedia libre Protestas en Camerún de 2025 Fecha 2025Lu...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238800" y="2026800"/>
            <a:ext cx="5353200" cy="1422000"/>
          </a:xfrm>
          <a:prstGeom prst="roundRect">
            <a:avLst/>
          </a:prstGeom>
          <a:noFill/>
          <a:ln/>
        </p:spPr>
      </p:sp>
      <p:sp>
        <p:nvSpPr>
          <p:cNvPr id="21" name="Shape 17"/>
          <p:cNvSpPr/>
          <p:nvPr/>
        </p:nvSpPr>
        <p:spPr>
          <a:xfrm>
            <a:off x="6238800" y="2026800"/>
            <a:ext cx="5353200" cy="1422000"/>
          </a:xfrm>
          <a:prstGeom prst="roundRect">
            <a:avLst>
              <a:gd name="adj" fmla="val 7716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blurRad="1016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10339200" y="2210400"/>
            <a:ext cx="1000800" cy="334800"/>
          </a:xfrm>
          <a:prstGeom prst="roundRect">
            <a:avLst>
              <a:gd name="adj" fmla="val 136559"/>
            </a:avLst>
          </a:prstGeom>
          <a:solidFill>
            <a:srgbClr val="FFE0E0"/>
          </a:solidFill>
          <a:ln/>
        </p:spPr>
      </p:sp>
      <p:sp>
        <p:nvSpPr>
          <p:cNvPr id="23" name="Text 19"/>
          <p:cNvSpPr/>
          <p:nvPr/>
        </p:nvSpPr>
        <p:spPr>
          <a:xfrm>
            <a:off x="10339200" y="2210400"/>
            <a:ext cx="1000800" cy="33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B3540"/>
                </a:solidFill>
              </a:rPr>
              <a:t>Negative</a:t>
            </a:r>
            <a:endParaRPr lang="en-US" sz="12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800" y="2206800"/>
            <a:ext cx="507600" cy="507600"/>
          </a:xfrm>
          <a:prstGeom prst="ellipse">
            <a:avLst/>
          </a:prstGeom>
        </p:spPr>
      </p:pic>
      <p:sp>
        <p:nvSpPr>
          <p:cNvPr id="25" name="Text 20">
            <a:hlinkClick r:id="rId8"/>
          </p:cNvPr>
          <p:cNvSpPr/>
          <p:nvPr/>
        </p:nvSpPr>
        <p:spPr>
          <a:xfrm>
            <a:off x="7027200" y="2196000"/>
            <a:ext cx="3315600" cy="39960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marL="0" indent="0">
              <a:buNone/>
            </a:pPr>
            <a:r>
              <a:rPr lang="en-US" sz="1600" b="1" u="sng" dirty="0">
                <a:solidFill>
                  <a:srgbClr val="1E2534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Nzui Manto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7027200" y="2563200"/>
            <a:ext cx="9144000" cy="22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4C0"/>
                </a:solidFill>
              </a:rPr>
              <a:t>facebook.com • 1.1 M followers • 2025-12-20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6361200" y="2822400"/>
            <a:ext cx="4978800" cy="50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534"/>
                </a:solidFill>
              </a:rPr>
              <a:t>... [...] Ce sont les mêmes qui ont assassiné monseigneur Jean Marie Bala,les...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6238800" y="3772800"/>
            <a:ext cx="5353200" cy="1422000"/>
          </a:xfrm>
          <a:prstGeom prst="roundRect">
            <a:avLst/>
          </a:prstGeom>
          <a:noFill/>
          <a:ln/>
        </p:spPr>
      </p:sp>
      <p:sp>
        <p:nvSpPr>
          <p:cNvPr id="29" name="Shape 24"/>
          <p:cNvSpPr/>
          <p:nvPr/>
        </p:nvSpPr>
        <p:spPr>
          <a:xfrm>
            <a:off x="6238800" y="3772800"/>
            <a:ext cx="5353200" cy="1422000"/>
          </a:xfrm>
          <a:prstGeom prst="roundRect">
            <a:avLst>
              <a:gd name="adj" fmla="val 7716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blurRad="1016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10339200" y="3956400"/>
            <a:ext cx="1000800" cy="334800"/>
          </a:xfrm>
          <a:prstGeom prst="roundRect">
            <a:avLst>
              <a:gd name="adj" fmla="val 136559"/>
            </a:avLst>
          </a:prstGeom>
          <a:solidFill>
            <a:srgbClr val="FFE0E0"/>
          </a:solidFill>
          <a:ln/>
        </p:spPr>
      </p:sp>
      <p:sp>
        <p:nvSpPr>
          <p:cNvPr id="31" name="Text 26"/>
          <p:cNvSpPr/>
          <p:nvPr/>
        </p:nvSpPr>
        <p:spPr>
          <a:xfrm>
            <a:off x="10339200" y="3956400"/>
            <a:ext cx="1000800" cy="33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B3540"/>
                </a:solidFill>
              </a:rPr>
              <a:t>Negative</a:t>
            </a:r>
            <a:endParaRPr lang="en-US" sz="120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8800" y="3952800"/>
            <a:ext cx="507600" cy="507600"/>
          </a:xfrm>
          <a:prstGeom prst="ellipse">
            <a:avLst/>
          </a:prstGeom>
        </p:spPr>
      </p:pic>
      <p:sp>
        <p:nvSpPr>
          <p:cNvPr id="33" name="Text 27">
            <a:hlinkClick r:id="rId9"/>
          </p:cNvPr>
          <p:cNvSpPr/>
          <p:nvPr/>
        </p:nvSpPr>
        <p:spPr>
          <a:xfrm>
            <a:off x="7027200" y="3942000"/>
            <a:ext cx="3315600" cy="39960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marL="0" indent="0">
              <a:buNone/>
            </a:pPr>
            <a:r>
              <a:rPr lang="en-US" sz="1600" b="1" u="sng" dirty="0">
                <a:solidFill>
                  <a:srgbClr val="1E2534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Cameroun: des soutiens de l...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7027200" y="4309200"/>
            <a:ext cx="9144000" cy="22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4C0"/>
                </a:solidFill>
              </a:rPr>
              <a:t>rfi.fr • 2025-12-16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6361200" y="4568400"/>
            <a:ext cx="4978800" cy="50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534"/>
                </a:solidFill>
              </a:rPr>
              <a:t>[...] c est la colère de tous les Camerounais qu elles sont en train d exprim...</a:t>
            </a:r>
            <a:endParaRPr lang="en-US" sz="14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dirty="0">
                <a:latin typeface="Arial" pitchFamily="34" charset="0"/>
                <a:ea typeface="Arial" pitchFamily="34" charset="-122"/>
                <a:cs typeface="Arial" pitchFamily="34" charset="-120"/>
              </a:rPr>
              <a:t>Mentions from top public profiles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58000" y="2026800"/>
            <a:ext cx="5353200" cy="1422000"/>
          </a:xfrm>
          <a:prstGeom prst="round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558000" y="2026800"/>
            <a:ext cx="5353200" cy="1422000"/>
          </a:xfrm>
          <a:prstGeom prst="roundRect">
            <a:avLst>
              <a:gd name="adj" fmla="val 7716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blurRad="1016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658400" y="2210400"/>
            <a:ext cx="1000800" cy="334800"/>
          </a:xfrm>
          <a:prstGeom prst="roundRect">
            <a:avLst>
              <a:gd name="adj" fmla="val 136559"/>
            </a:avLst>
          </a:prstGeom>
          <a:solidFill>
            <a:srgbClr val="FFE0E0"/>
          </a:solidFill>
          <a:ln/>
        </p:spPr>
      </p:sp>
      <p:sp>
        <p:nvSpPr>
          <p:cNvPr id="7" name="Text 5"/>
          <p:cNvSpPr/>
          <p:nvPr/>
        </p:nvSpPr>
        <p:spPr>
          <a:xfrm>
            <a:off x="4658400" y="2210400"/>
            <a:ext cx="1000800" cy="33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B3540"/>
                </a:solidFill>
              </a:rPr>
              <a:t>Negative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00" y="2206800"/>
            <a:ext cx="507600" cy="507600"/>
          </a:xfrm>
          <a:prstGeom prst="ellipse">
            <a:avLst/>
          </a:prstGeom>
        </p:spPr>
      </p:pic>
      <p:sp>
        <p:nvSpPr>
          <p:cNvPr id="9" name="Text 6">
            <a:hlinkClick r:id="rId4"/>
          </p:cNvPr>
          <p:cNvSpPr/>
          <p:nvPr/>
        </p:nvSpPr>
        <p:spPr>
          <a:xfrm>
            <a:off x="1346400" y="2196000"/>
            <a:ext cx="3315600" cy="39960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marL="0" indent="0">
              <a:buNone/>
            </a:pPr>
            <a:r>
              <a:rPr lang="en-US" sz="1600" b="1" u="sng" dirty="0">
                <a:solidFill>
                  <a:srgbClr val="1E2534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Nzui Manto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46400" y="2563200"/>
            <a:ext cx="9144000" cy="22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4C0"/>
                </a:solidFill>
              </a:rPr>
              <a:t>facebook.com • 1.1 M followers • 2025-12-25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0400" y="2822400"/>
            <a:ext cx="4978800" cy="50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534"/>
                </a:solidFill>
              </a:rPr>
              <a:t>Ils sont une quarantaine de jeunes camerounais qui ne verront pas l année 202...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58000" y="3772800"/>
            <a:ext cx="5353200" cy="1422000"/>
          </a:xfrm>
          <a:prstGeom prst="roundRect">
            <a:avLst/>
          </a:prstGeom>
          <a:noFill/>
          <a:ln/>
        </p:spPr>
      </p:sp>
      <p:sp>
        <p:nvSpPr>
          <p:cNvPr id="13" name="Shape 10"/>
          <p:cNvSpPr/>
          <p:nvPr/>
        </p:nvSpPr>
        <p:spPr>
          <a:xfrm>
            <a:off x="558000" y="3772800"/>
            <a:ext cx="5353200" cy="1422000"/>
          </a:xfrm>
          <a:prstGeom prst="roundRect">
            <a:avLst>
              <a:gd name="adj" fmla="val 7716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blurRad="1016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58400" y="3956400"/>
            <a:ext cx="1000800" cy="334800"/>
          </a:xfrm>
          <a:prstGeom prst="roundRect">
            <a:avLst>
              <a:gd name="adj" fmla="val 136559"/>
            </a:avLst>
          </a:prstGeom>
          <a:solidFill>
            <a:srgbClr val="C8FFE7"/>
          </a:solidFill>
          <a:ln/>
        </p:spPr>
      </p:sp>
      <p:sp>
        <p:nvSpPr>
          <p:cNvPr id="15" name="Text 12"/>
          <p:cNvSpPr/>
          <p:nvPr/>
        </p:nvSpPr>
        <p:spPr>
          <a:xfrm>
            <a:off x="4658400" y="3956400"/>
            <a:ext cx="1000800" cy="33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7F4A"/>
                </a:solidFill>
              </a:rPr>
              <a:t>Positive</a:t>
            </a:r>
            <a:endParaRPr lang="en-US" sz="12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000" y="3952800"/>
            <a:ext cx="507600" cy="507600"/>
          </a:xfrm>
          <a:prstGeom prst="ellipse">
            <a:avLst/>
          </a:prstGeom>
        </p:spPr>
      </p:pic>
      <p:sp>
        <p:nvSpPr>
          <p:cNvPr id="17" name="Text 13">
            <a:hlinkClick r:id="rId6"/>
          </p:cNvPr>
          <p:cNvSpPr/>
          <p:nvPr/>
        </p:nvSpPr>
        <p:spPr>
          <a:xfrm>
            <a:off x="1346400" y="3942000"/>
            <a:ext cx="3315600" cy="39960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marL="0" indent="0">
              <a:buNone/>
            </a:pPr>
            <a:r>
              <a:rPr lang="en-US" sz="1600" b="1" u="sng" dirty="0">
                <a:solidFill>
                  <a:srgbClr val="1E2534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Max Senior Ivoire officiel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346400" y="4309200"/>
            <a:ext cx="9144000" cy="22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4C0"/>
                </a:solidFill>
              </a:rPr>
              <a:t>facebook.com • 43 630 followers • 2025-12-10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80400" y="4568400"/>
            <a:ext cx="4978800" cy="50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534"/>
                </a:solidFill>
              </a:rPr>
              <a:t>Hommage de Maurice Kamto a Anicet Ekane. #Afrique #Cameroun #J_OSE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238800" y="2026800"/>
            <a:ext cx="5353200" cy="1422000"/>
          </a:xfrm>
          <a:prstGeom prst="roundRect">
            <a:avLst/>
          </a:prstGeom>
          <a:noFill/>
          <a:ln/>
        </p:spPr>
      </p:sp>
      <p:sp>
        <p:nvSpPr>
          <p:cNvPr id="21" name="Shape 17"/>
          <p:cNvSpPr/>
          <p:nvPr/>
        </p:nvSpPr>
        <p:spPr>
          <a:xfrm>
            <a:off x="6238800" y="2026800"/>
            <a:ext cx="5353200" cy="1422000"/>
          </a:xfrm>
          <a:prstGeom prst="roundRect">
            <a:avLst>
              <a:gd name="adj" fmla="val 7716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blurRad="1016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10339200" y="2210400"/>
            <a:ext cx="1000800" cy="334800"/>
          </a:xfrm>
          <a:prstGeom prst="roundRect">
            <a:avLst>
              <a:gd name="adj" fmla="val 136559"/>
            </a:avLst>
          </a:prstGeom>
          <a:solidFill>
            <a:srgbClr val="F7F7F9"/>
          </a:solidFill>
          <a:ln/>
        </p:spPr>
      </p:sp>
      <p:sp>
        <p:nvSpPr>
          <p:cNvPr id="23" name="Text 19"/>
          <p:cNvSpPr/>
          <p:nvPr/>
        </p:nvSpPr>
        <p:spPr>
          <a:xfrm>
            <a:off x="10339200" y="2210400"/>
            <a:ext cx="1000800" cy="33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AB4C0"/>
                </a:solidFill>
              </a:rPr>
              <a:t>Neutral</a:t>
            </a:r>
            <a:endParaRPr lang="en-US" sz="12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8800" y="2206800"/>
            <a:ext cx="507600" cy="507600"/>
          </a:xfrm>
          <a:prstGeom prst="ellipse">
            <a:avLst/>
          </a:prstGeom>
        </p:spPr>
      </p:pic>
      <p:sp>
        <p:nvSpPr>
          <p:cNvPr id="25" name="Text 20">
            <a:hlinkClick r:id="rId8"/>
          </p:cNvPr>
          <p:cNvSpPr/>
          <p:nvPr/>
        </p:nvSpPr>
        <p:spPr>
          <a:xfrm>
            <a:off x="7027200" y="2196000"/>
            <a:ext cx="3315600" cy="39960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marL="0" indent="0">
              <a:buNone/>
            </a:pPr>
            <a:r>
              <a:rPr lang="en-US" sz="1600" b="1" u="sng" dirty="0">
                <a:solidFill>
                  <a:srgbClr val="1E2534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CamerNation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7027200" y="2563200"/>
            <a:ext cx="9144000" cy="22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4C0"/>
                </a:solidFill>
              </a:rPr>
              <a:t>facebook.com • 51 173 followers • 2025-12-28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6361200" y="2822400"/>
            <a:ext cx="4978800" cy="50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534"/>
                </a:solidFill>
              </a:rPr>
              <a:t>ANICET EKANE CONTINUE A VISITER BIYA ET CHANTOUX. .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6238800" y="3772800"/>
            <a:ext cx="5353200" cy="1422000"/>
          </a:xfrm>
          <a:prstGeom prst="roundRect">
            <a:avLst/>
          </a:prstGeom>
          <a:noFill/>
          <a:ln/>
        </p:spPr>
      </p:sp>
      <p:sp>
        <p:nvSpPr>
          <p:cNvPr id="29" name="Shape 24"/>
          <p:cNvSpPr/>
          <p:nvPr/>
        </p:nvSpPr>
        <p:spPr>
          <a:xfrm>
            <a:off x="6238800" y="3772800"/>
            <a:ext cx="5353200" cy="1422000"/>
          </a:xfrm>
          <a:prstGeom prst="roundRect">
            <a:avLst>
              <a:gd name="adj" fmla="val 7716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blurRad="1016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10339200" y="3956400"/>
            <a:ext cx="1000800" cy="334800"/>
          </a:xfrm>
          <a:prstGeom prst="roundRect">
            <a:avLst>
              <a:gd name="adj" fmla="val 136559"/>
            </a:avLst>
          </a:prstGeom>
          <a:solidFill>
            <a:srgbClr val="FFE0E0"/>
          </a:solidFill>
          <a:ln/>
        </p:spPr>
      </p:sp>
      <p:sp>
        <p:nvSpPr>
          <p:cNvPr id="31" name="Text 26"/>
          <p:cNvSpPr/>
          <p:nvPr/>
        </p:nvSpPr>
        <p:spPr>
          <a:xfrm>
            <a:off x="10339200" y="3956400"/>
            <a:ext cx="1000800" cy="33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B3540"/>
                </a:solidFill>
              </a:rPr>
              <a:t>Negative</a:t>
            </a:r>
            <a:endParaRPr lang="en-US" sz="120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8800" y="3952800"/>
            <a:ext cx="507600" cy="507600"/>
          </a:xfrm>
          <a:prstGeom prst="ellipse">
            <a:avLst/>
          </a:prstGeom>
        </p:spPr>
      </p:pic>
      <p:sp>
        <p:nvSpPr>
          <p:cNvPr id="33" name="Text 27">
            <a:hlinkClick r:id="rId10"/>
          </p:cNvPr>
          <p:cNvSpPr/>
          <p:nvPr/>
        </p:nvSpPr>
        <p:spPr>
          <a:xfrm>
            <a:off x="7027200" y="3942000"/>
            <a:ext cx="3315600" cy="39960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marL="0" indent="0">
              <a:buNone/>
            </a:pPr>
            <a:r>
              <a:rPr lang="en-US" sz="1600" b="1" u="sng" dirty="0">
                <a:solidFill>
                  <a:srgbClr val="1E2534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Boris Bertolt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7027200" y="4309200"/>
            <a:ext cx="9144000" cy="22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4C0"/>
                </a:solidFill>
              </a:rPr>
              <a:t>facebook.com • 517 K followers • 2025-12-10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6361200" y="4568400"/>
            <a:ext cx="4978800" cy="50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534"/>
                </a:solidFill>
              </a:rPr>
              <a:t>Info en continu… Le patron de la gendarmerie,Galax ETOGA accusé d’être impliq...</a:t>
            </a:r>
            <a:endParaRPr lang="en-US" sz="14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dirty="0">
                <a:latin typeface="Arial" pitchFamily="34" charset="0"/>
                <a:ea typeface="Arial" pitchFamily="34" charset="-122"/>
                <a:cs typeface="Arial" pitchFamily="34" charset="-120"/>
              </a:rPr>
              <a:t>Mentions</a:t>
            </a:r>
            <a:endParaRPr lang="en-US" sz="3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1580400" y="1738800"/>
          <a:ext cx="9712800" cy="428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dirty="0">
                <a:latin typeface="Arial" pitchFamily="34" charset="0"/>
                <a:ea typeface="Arial" pitchFamily="34" charset="-122"/>
                <a:cs typeface="Arial" pitchFamily="34" charset="-120"/>
              </a:rPr>
              <a:t>Reach</a:t>
            </a:r>
            <a:endParaRPr lang="en-US" sz="3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1580400" y="1738800"/>
          <a:ext cx="9712800" cy="428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1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Mentions by category</a:t>
            </a:r>
            <a:endParaRPr lang="en-US" sz="1600" b="1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68680732"/>
              </p:ext>
            </p:extLst>
          </p:nvPr>
        </p:nvGraphicFramePr>
        <p:xfrm>
          <a:off x="647999" y="1138978"/>
          <a:ext cx="9906512" cy="4880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Sentiment</a:t>
            </a:r>
            <a:endParaRPr lang="en-US" sz="16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280474438"/>
              </p:ext>
            </p:extLst>
          </p:nvPr>
        </p:nvGraphicFramePr>
        <p:xfrm>
          <a:off x="817122" y="1288801"/>
          <a:ext cx="10291865" cy="428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dirty="0">
                <a:latin typeface="Arial" pitchFamily="34" charset="0"/>
                <a:ea typeface="Arial" pitchFamily="34" charset="-122"/>
                <a:cs typeface="Arial" pitchFamily="34" charset="-120"/>
              </a:rPr>
              <a:t>Sentiment by categories</a:t>
            </a:r>
            <a:endParaRPr lang="en-US" sz="3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1677600" y="1789200"/>
          <a:ext cx="9543600" cy="439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1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dirty="0">
                <a:latin typeface="Arial" pitchFamily="34" charset="0"/>
                <a:ea typeface="Arial" pitchFamily="34" charset="-122"/>
                <a:cs typeface="Arial" pitchFamily="34" charset="-120"/>
              </a:rPr>
              <a:t>Influencers: most share of voice</a:t>
            </a:r>
            <a:endParaRPr lang="en-US" sz="3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00000" y="1810800"/>
          <a:ext cx="6840000" cy="288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Profile name</a:t>
                      </a:r>
                      <a:endParaRPr lang="en-US" sz="1200" dirty="0"/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Mentions</a:t>
                      </a:r>
                      <a:endParaRPr lang="en-US" sz="1200" dirty="0"/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Reach</a:t>
                      </a:r>
                      <a:endParaRPr lang="en-US" sz="1200" dirty="0"/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Share of Voice</a:t>
                      </a:r>
                      <a:endParaRPr lang="en-US" sz="1200" dirty="0"/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Nzui Manto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AB4C0"/>
                          </a:solidFill>
                        </a:rPr>
                        <a:t>facebook.com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2.9 M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59.798%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Boris Bertolt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AB4C0"/>
                          </a:solidFill>
                        </a:rPr>
                        <a:t>facebook.com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340 K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7.047%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Max Senior Ivoire officiel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AB4C0"/>
                          </a:solidFill>
                        </a:rPr>
                        <a:t>facebook.com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224 K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4.637%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Le TGV de linfo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AB4C0"/>
                          </a:solidFill>
                        </a:rPr>
                        <a:t>facebook.com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211 K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4.364%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CamerNation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AB4C0"/>
                          </a:solidFill>
                        </a:rPr>
                        <a:t>facebook.com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210 K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4.346%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72000" y="2422800"/>
            <a:ext cx="324000" cy="324000"/>
          </a:xfrm>
          <a:prstGeom prst="ellipse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72000" y="2962800"/>
            <a:ext cx="324000" cy="324000"/>
          </a:xfrm>
          <a:prstGeom prst="ellipse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772000" y="3502800"/>
            <a:ext cx="324000" cy="324000"/>
          </a:xfrm>
          <a:prstGeom prst="ellipse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772000" y="4042800"/>
            <a:ext cx="324000" cy="324000"/>
          </a:xfrm>
          <a:prstGeom prst="ellipse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772000" y="4582800"/>
            <a:ext cx="324000" cy="324000"/>
          </a:xfrm>
          <a:prstGeom prst="ellipse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1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dirty="0">
                <a:latin typeface="Arial" pitchFamily="34" charset="0"/>
                <a:ea typeface="Arial" pitchFamily="34" charset="-122"/>
                <a:cs typeface="Arial" pitchFamily="34" charset="-120"/>
              </a:rPr>
              <a:t>Influencers: most followers</a:t>
            </a:r>
            <a:endParaRPr lang="en-US" sz="3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60000" y="1810800"/>
          <a:ext cx="9720000" cy="288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1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7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Profile name</a:t>
                      </a:r>
                      <a:endParaRPr lang="en-US" sz="1200" dirty="0"/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Mentions</a:t>
                      </a:r>
                      <a:endParaRPr lang="en-US" sz="1200" dirty="0"/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Reach</a:t>
                      </a:r>
                      <a:endParaRPr lang="en-US" sz="1200" dirty="0"/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Followers</a:t>
                      </a:r>
                      <a:endParaRPr lang="en-US" sz="1200" dirty="0"/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Influencer Score</a:t>
                      </a:r>
                      <a:endParaRPr lang="en-US" sz="1200" dirty="0"/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RFI Afrique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AB4C0"/>
                          </a:solidFill>
                        </a:rPr>
                        <a:t>facebook.com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37 334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1.9 M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Nzui Manto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AB4C0"/>
                          </a:solidFill>
                        </a:rPr>
                        <a:t>facebook.com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2.9 M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1.1 M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Le Journal Ekang De Coco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AB4C0"/>
                          </a:solidFill>
                        </a:rPr>
                        <a:t>facebook.com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18 953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632 K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ÉQUINOXE TV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AB4C0"/>
                          </a:solidFill>
                        </a:rPr>
                        <a:t>youtube.com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12 514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562 K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Boris Bertolt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AB4C0"/>
                          </a:solidFill>
                        </a:rPr>
                        <a:t>facebook.com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340 K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517 K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48000" y="2440800"/>
            <a:ext cx="324000" cy="324000"/>
          </a:xfrm>
          <a:prstGeom prst="ellipse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548000" y="2980800"/>
            <a:ext cx="324000" cy="324000"/>
          </a:xfrm>
          <a:prstGeom prst="ellipse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548000" y="3520800"/>
            <a:ext cx="324000" cy="324000"/>
          </a:xfrm>
          <a:prstGeom prst="ellipse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548000" y="4060800"/>
            <a:ext cx="324000" cy="324000"/>
          </a:xfrm>
          <a:prstGeom prst="ellipse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548000" y="4600800"/>
            <a:ext cx="324000" cy="324000"/>
          </a:xfrm>
          <a:prstGeom prst="ellipse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1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dirty="0">
                <a:latin typeface="Arial" pitchFamily="34" charset="0"/>
                <a:ea typeface="Arial" pitchFamily="34" charset="-122"/>
                <a:cs typeface="Arial" pitchFamily="34" charset="-120"/>
              </a:rPr>
              <a:t>Trending Hashtags and Links</a:t>
            </a:r>
            <a:endParaRPr lang="en-US" sz="3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29600" y="1666800"/>
          <a:ext cx="4629600" cy="3870000"/>
        </p:xfrm>
        <a:graphic>
          <a:graphicData uri="http://schemas.openxmlformats.org/drawingml/2006/table">
            <a:tbl>
              <a:tblPr/>
              <a:tblGrid>
                <a:gridCol w="23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Hashtag</a:t>
                      </a:r>
                      <a:endParaRPr lang="en-US" sz="1200" dirty="0"/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Mentions</a:t>
                      </a:r>
                      <a:endParaRPr lang="en-US" sz="1200" dirty="0"/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#cameroun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22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#anicetekane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#paulbiya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#afrique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#issatchiroma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#crisepolitique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#africa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#j_ose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87200" y="1666800"/>
          <a:ext cx="4629600" cy="3870000"/>
        </p:xfrm>
        <a:graphic>
          <a:graphicData uri="http://schemas.openxmlformats.org/drawingml/2006/table">
            <a:tbl>
              <a:tblPr/>
              <a:tblGrid>
                <a:gridCol w="354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Link</a:t>
                      </a:r>
                      <a:endParaRPr lang="en-US" sz="1200" dirty="0"/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Mentions</a:t>
                      </a:r>
                      <a:endParaRPr lang="en-US" sz="1200" dirty="0"/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u="sng" dirty="0">
                          <a:solidFill>
                            <a:srgbClr val="000000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https://t.me/+nccppyrasbbmmzm8...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u="sng" dirty="0">
                          <a:solidFill>
                            <a:srgbClr val="000000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https://www.cl2p.org...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u="sng" dirty="0">
                          <a:solidFill>
                            <a:srgbClr val="000000"/>
                          </a:solidFill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https://x.com/senateforeign/stat...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u="sng" dirty="0">
                          <a:solidFill>
                            <a:srgbClr val="000000"/>
                          </a:solidFill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https://x.com/gaetanld56/status/...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u="sng" dirty="0">
                          <a:solidFill>
                            <a:srgbClr val="000000"/>
                          </a:solidFill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https://www.rfi.fr/fr/podcasts/i...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u="sng" dirty="0">
                          <a:solidFill>
                            <a:srgbClr val="000000"/>
                          </a:solidFill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https://x.com/tassingremi/status...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u="sng" dirty="0">
                          <a:solidFill>
                            <a:srgbClr val="000000"/>
                          </a:solidFill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https://x.com/mg_kengne/status/2...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u="sng" dirty="0">
                          <a:solidFill>
                            <a:srgbClr val="000000"/>
                          </a:solidFill>
                          <a:hlinkClick r:id="rId1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https://www.facebook.com/profile...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1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dirty="0">
                <a:latin typeface="Arial" pitchFamily="34" charset="0"/>
                <a:ea typeface="Arial" pitchFamily="34" charset="-122"/>
                <a:cs typeface="Arial" pitchFamily="34" charset="-120"/>
              </a:rPr>
              <a:t>Most active sites</a:t>
            </a:r>
            <a:endParaRPr lang="en-US" sz="3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29600" y="1666800"/>
          <a:ext cx="4629600" cy="32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Source</a:t>
                      </a:r>
                      <a:endParaRPr lang="en-US" sz="1200" dirty="0"/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Mentions</a:t>
                      </a:r>
                      <a:endParaRPr lang="en-US" sz="1200" dirty="0"/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x.com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61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youtube.com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55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actucameroun.com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37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facebook.com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36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camer.be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87200" y="1666800"/>
          <a:ext cx="4629600" cy="3240000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Source</a:t>
                      </a:r>
                      <a:endParaRPr lang="en-US" sz="1200" dirty="0"/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Mentions</a:t>
                      </a:r>
                      <a:endParaRPr lang="en-US" sz="1200" dirty="0"/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tiktok.com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panoramapapers.com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237actu.com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africa-press.net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theindependentistnews.com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81600" y="2296800"/>
            <a:ext cx="324000" cy="324000"/>
          </a:xfrm>
          <a:prstGeom prst="ellipse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81600" y="2836800"/>
            <a:ext cx="324000" cy="324000"/>
          </a:xfrm>
          <a:prstGeom prst="ellipse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81600" y="3376800"/>
            <a:ext cx="324000" cy="324000"/>
          </a:xfrm>
          <a:prstGeom prst="ellipse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281600" y="3916800"/>
            <a:ext cx="324000" cy="324000"/>
          </a:xfrm>
          <a:prstGeom prst="ellipse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81600" y="4456800"/>
            <a:ext cx="324000" cy="324000"/>
          </a:xfrm>
          <a:prstGeom prst="ellipse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739200" y="2296800"/>
            <a:ext cx="324000" cy="324000"/>
          </a:xfrm>
          <a:prstGeom prst="ellipse">
            <a:avLst/>
          </a:prstGeom>
        </p:spPr>
      </p:pic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739200" y="2836800"/>
            <a:ext cx="324000" cy="324000"/>
          </a:xfrm>
          <a:prstGeom prst="ellipse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739200" y="3376800"/>
            <a:ext cx="324000" cy="324000"/>
          </a:xfrm>
          <a:prstGeom prst="ellipse">
            <a:avLst/>
          </a:prstGeom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739200" y="3916800"/>
            <a:ext cx="324000" cy="324000"/>
          </a:xfrm>
          <a:prstGeom prst="ellipse">
            <a:avLst/>
          </a:prstGeom>
        </p:spPr>
      </p:pic>
      <p:pic>
        <p:nvPicPr>
          <p:cNvPr id="4" name="Image 9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739200" y="4456800"/>
            <a:ext cx="324000" cy="324000"/>
          </a:xfrm>
          <a:prstGeom prst="ellipse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1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dirty="0">
                <a:latin typeface="Arial" pitchFamily="34" charset="0"/>
                <a:ea typeface="Arial" pitchFamily="34" charset="-122"/>
                <a:cs typeface="Arial" pitchFamily="34" charset="-120"/>
              </a:rPr>
              <a:t>Current Presence Score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448000" y="2826000"/>
            <a:ext cx="900000" cy="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534"/>
                </a:solidFill>
              </a:rPr>
              <a:t>28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57200" y="4456800"/>
            <a:ext cx="3286800" cy="42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AAB4C0"/>
                </a:solidFill>
              </a:rPr>
              <a:t>Your Presence Score is higher than 60% of brands</a:t>
            </a:r>
            <a:endParaRPr lang="en-US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1731600" y="2037600"/>
          <a:ext cx="2300400" cy="23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5727600" y="2037600"/>
          <a:ext cx="5662800" cy="333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1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3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37859" y="1159200"/>
            <a:ext cx="9117482" cy="4754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1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dirty="0">
                <a:latin typeface="Arial" pitchFamily="34" charset="0"/>
                <a:ea typeface="Arial" pitchFamily="34" charset="-122"/>
                <a:cs typeface="Arial" pitchFamily="34" charset="-120"/>
              </a:rPr>
              <a:t>Context of a discussion</a:t>
            </a:r>
            <a:endParaRPr lang="en-US" sz="3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37859" y="1519200"/>
            <a:ext cx="9117482" cy="4754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1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2800" y="2977200"/>
            <a:ext cx="9144000" cy="885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5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2350800" y="1069200"/>
            <a:ext cx="1710000" cy="1710000"/>
          </a:xfrm>
          <a:prstGeom prst="ellipse">
            <a:avLst/>
          </a:prstGeom>
          <a:solidFill>
            <a:srgbClr val="E4E8EB"/>
          </a:solidFill>
          <a:ln/>
        </p:spPr>
      </p:sp>
      <p:sp>
        <p:nvSpPr>
          <p:cNvPr id="4" name="Shape 2"/>
          <p:cNvSpPr/>
          <p:nvPr/>
        </p:nvSpPr>
        <p:spPr>
          <a:xfrm>
            <a:off x="9936000" y="799200"/>
            <a:ext cx="993600" cy="993600"/>
          </a:xfrm>
          <a:prstGeom prst="ellipse">
            <a:avLst/>
          </a:prstGeom>
          <a:solidFill>
            <a:srgbClr val="636363"/>
          </a:solidFill>
          <a:ln/>
        </p:spPr>
      </p:sp>
      <p:sp>
        <p:nvSpPr>
          <p:cNvPr id="5" name="Shape 3"/>
          <p:cNvSpPr/>
          <p:nvPr/>
        </p:nvSpPr>
        <p:spPr>
          <a:xfrm>
            <a:off x="11134800" y="5536800"/>
            <a:ext cx="493200" cy="493200"/>
          </a:xfrm>
          <a:prstGeom prst="ellipse">
            <a:avLst/>
          </a:prstGeom>
          <a:solidFill>
            <a:srgbClr val="057F4A"/>
          </a:solidFill>
          <a:ln/>
        </p:spPr>
      </p:sp>
      <p:sp>
        <p:nvSpPr>
          <p:cNvPr id="6" name="Shape 4"/>
          <p:cNvSpPr/>
          <p:nvPr/>
        </p:nvSpPr>
        <p:spPr>
          <a:xfrm>
            <a:off x="-1468800" y="4946400"/>
            <a:ext cx="3906000" cy="3906000"/>
          </a:xfrm>
          <a:prstGeom prst="ellipse">
            <a:avLst/>
          </a:prstGeom>
          <a:noFill/>
          <a:ln w="444500">
            <a:solidFill>
              <a:srgbClr val="057F4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787</Words>
  <Application>Microsoft Office PowerPoint</Application>
  <PresentationFormat>Widescreen</PresentationFormat>
  <Paragraphs>294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maclef maclef</cp:lastModifiedBy>
  <cp:revision>2</cp:revision>
  <dcterms:created xsi:type="dcterms:W3CDTF">2026-01-09T17:34:51Z</dcterms:created>
  <dcterms:modified xsi:type="dcterms:W3CDTF">2026-01-12T10:23:17Z</dcterms:modified>
</cp:coreProperties>
</file>